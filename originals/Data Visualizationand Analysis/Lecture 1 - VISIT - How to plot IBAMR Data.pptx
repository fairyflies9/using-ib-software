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4" r:id="rId1"/>
  </p:sldMasterIdLst>
  <p:notesMasterIdLst>
    <p:notesMasterId r:id="rId33"/>
  </p:notesMasterIdLst>
  <p:sldIdLst>
    <p:sldId id="256" r:id="rId2"/>
    <p:sldId id="257" r:id="rId3"/>
    <p:sldId id="286"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36" d="100"/>
          <a:sy n="136" d="100"/>
        </p:scale>
        <p:origin x="894"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
        <p:cNvGrpSpPr/>
        <p:nvPr/>
      </p:nvGrpSpPr>
      <p:grpSpPr>
        <a:xfrm>
          <a:off x="0" y="0"/>
          <a:ext cx="0" cy="0"/>
          <a:chOff x="0" y="0"/>
          <a:chExt cx="0" cy="0"/>
        </a:xfrm>
      </p:grpSpPr>
      <p:sp>
        <p:nvSpPr>
          <p:cNvPr id="24" name="Google Shape;2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 name="Google Shape;2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
        <p:cNvGrpSpPr/>
        <p:nvPr/>
      </p:nvGrpSpPr>
      <p:grpSpPr>
        <a:xfrm>
          <a:off x="0" y="0"/>
          <a:ext cx="0" cy="0"/>
          <a:chOff x="0" y="0"/>
          <a:chExt cx="0" cy="0"/>
        </a:xfrm>
      </p:grpSpPr>
      <p:sp>
        <p:nvSpPr>
          <p:cNvPr id="29" name="Google Shape;29;g5baabd729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 name="Google Shape;30;g5baabd729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g5baabd7299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 name="Google Shape;37;g5baabd7299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g5baabd7299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 name="Google Shape;44;g5baabd7299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
        <p:cNvGrpSpPr/>
        <p:nvPr/>
      </p:nvGrpSpPr>
      <p:grpSpPr>
        <a:xfrm>
          <a:off x="0" y="0"/>
          <a:ext cx="0" cy="0"/>
          <a:chOff x="0" y="0"/>
          <a:chExt cx="0" cy="0"/>
        </a:xfrm>
      </p:grpSpPr>
      <p:sp>
        <p:nvSpPr>
          <p:cNvPr id="52" name="Google Shape;52;g5baabd7299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 name="Google Shape;53;g5baabd7299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5baabd7299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5baabd7299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5baabd7299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5baabd7299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5baabd7299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5baabd7299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5baabd7299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5baabd7299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g5baabd7299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 name="Google Shape;88;g5baabd7299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5baabd7299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5baabd7299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5baabd7299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5baabd7299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
        <p:cNvGrpSpPr/>
        <p:nvPr/>
      </p:nvGrpSpPr>
      <p:grpSpPr>
        <a:xfrm>
          <a:off x="0" y="0"/>
          <a:ext cx="0" cy="0"/>
          <a:chOff x="0" y="0"/>
          <a:chExt cx="0" cy="0"/>
        </a:xfrm>
      </p:grpSpPr>
      <p:sp>
        <p:nvSpPr>
          <p:cNvPr id="115" name="Google Shape;115;g5baabd7299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 name="Google Shape;116;g5baabd7299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g5baabd7299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 name="Google Shape;125;g5baabd7299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5baabd7299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5baabd7299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g5baabd7299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0" name="Google Shape;140;g5baabd7299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5baabd7299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5baabd7299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5baabd7299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5baabd7299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5baabd7299_0_1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5baabd7299_0_1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Reset the window back to the default window</a:t>
            </a:r>
            <a:endParaRPr/>
          </a:p>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5baabd7299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5baabd7299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5baabd7299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5baabd7299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g5baabd7299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 name="Google Shape;186;g5baabd7299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17503b435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17503b435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g17503b435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8" name="Google Shape;198;g17503b435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17503b435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17503b435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g17503b435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0" name="Google Shape;210;g17503b435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17503b435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17503b435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17503b435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17503b435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g17503b435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8" name="Google Shape;228;g17503b435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17503b435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17503b435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10" name="Google Shape;10;p2"/>
          <p:cNvSpPr txBox="1">
            <a:spLocks noGrp="1"/>
          </p:cNvSpPr>
          <p:nvPr>
            <p:ph type="subTitle" idx="1"/>
          </p:nvPr>
        </p:nvSpPr>
        <p:spPr>
          <a:xfrm>
            <a:off x="685800" y="2840054"/>
            <a:ext cx="7772400" cy="784738"/>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2"/>
              </a:buClr>
              <a:buSzPts val="3000"/>
              <a:buNone/>
              <a:defRPr>
                <a:solidFill>
                  <a:schemeClr val="dk2"/>
                </a:solidFill>
              </a:defRPr>
            </a:lvl1pPr>
            <a:lvl2pPr lvl="1" algn="ctr">
              <a:spcBef>
                <a:spcPts val="0"/>
              </a:spcBef>
              <a:spcAft>
                <a:spcPts val="0"/>
              </a:spcAft>
              <a:buClr>
                <a:schemeClr val="dk2"/>
              </a:buClr>
              <a:buSzPts val="3000"/>
              <a:buNone/>
              <a:defRPr sz="3000">
                <a:solidFill>
                  <a:schemeClr val="dk2"/>
                </a:solidFill>
              </a:defRPr>
            </a:lvl2pPr>
            <a:lvl3pPr lvl="2" algn="ctr">
              <a:spcBef>
                <a:spcPts val="0"/>
              </a:spcBef>
              <a:spcAft>
                <a:spcPts val="0"/>
              </a:spcAft>
              <a:buClr>
                <a:schemeClr val="dk2"/>
              </a:buClr>
              <a:buSzPts val="3000"/>
              <a:buNone/>
              <a:defRPr sz="3000">
                <a:solidFill>
                  <a:schemeClr val="dk2"/>
                </a:solidFill>
              </a:defRPr>
            </a:lvl3pPr>
            <a:lvl4pPr lvl="3" algn="ctr">
              <a:spcBef>
                <a:spcPts val="0"/>
              </a:spcBef>
              <a:spcAft>
                <a:spcPts val="0"/>
              </a:spcAft>
              <a:buClr>
                <a:schemeClr val="dk2"/>
              </a:buClr>
              <a:buSzPts val="3000"/>
              <a:buNone/>
              <a:defRPr sz="3000">
                <a:solidFill>
                  <a:schemeClr val="dk2"/>
                </a:solidFill>
              </a:defRPr>
            </a:lvl4pPr>
            <a:lvl5pPr lvl="4" algn="ctr">
              <a:spcBef>
                <a:spcPts val="0"/>
              </a:spcBef>
              <a:spcAft>
                <a:spcPts val="0"/>
              </a:spcAft>
              <a:buClr>
                <a:schemeClr val="dk2"/>
              </a:buClr>
              <a:buSzPts val="3000"/>
              <a:buNone/>
              <a:defRPr sz="3000">
                <a:solidFill>
                  <a:schemeClr val="dk2"/>
                </a:solidFill>
              </a:defRPr>
            </a:lvl5pPr>
            <a:lvl6pPr lvl="5" algn="ctr">
              <a:spcBef>
                <a:spcPts val="0"/>
              </a:spcBef>
              <a:spcAft>
                <a:spcPts val="0"/>
              </a:spcAft>
              <a:buClr>
                <a:schemeClr val="dk2"/>
              </a:buClr>
              <a:buSzPts val="3000"/>
              <a:buNone/>
              <a:defRPr sz="3000">
                <a:solidFill>
                  <a:schemeClr val="dk2"/>
                </a:solidFill>
              </a:defRPr>
            </a:lvl6pPr>
            <a:lvl7pPr lvl="6" algn="ctr">
              <a:spcBef>
                <a:spcPts val="0"/>
              </a:spcBef>
              <a:spcAft>
                <a:spcPts val="0"/>
              </a:spcAft>
              <a:buClr>
                <a:schemeClr val="dk2"/>
              </a:buClr>
              <a:buSzPts val="3000"/>
              <a:buNone/>
              <a:defRPr sz="3000">
                <a:solidFill>
                  <a:schemeClr val="dk2"/>
                </a:solidFill>
              </a:defRPr>
            </a:lvl7pPr>
            <a:lvl8pPr lvl="7" algn="ctr">
              <a:spcBef>
                <a:spcPts val="0"/>
              </a:spcBef>
              <a:spcAft>
                <a:spcPts val="0"/>
              </a:spcAft>
              <a:buClr>
                <a:schemeClr val="dk2"/>
              </a:buClr>
              <a:buSzPts val="3000"/>
              <a:buNone/>
              <a:defRPr sz="3000">
                <a:solidFill>
                  <a:schemeClr val="dk2"/>
                </a:solidFill>
              </a:defRPr>
            </a:lvl8pPr>
            <a:lvl9pPr lvl="8" algn="ctr">
              <a:spcBef>
                <a:spcPts val="0"/>
              </a:spcBef>
              <a:spcAft>
                <a:spcPts val="0"/>
              </a:spcAft>
              <a:buClr>
                <a:schemeClr val="dk2"/>
              </a:buClr>
              <a:buSzPts val="3000"/>
              <a:buNone/>
              <a:defRPr sz="3000">
                <a:solidFill>
                  <a:schemeClr val="dk2"/>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1"/>
        <p:cNvGrpSpPr/>
        <p:nvPr/>
      </p:nvGrpSpPr>
      <p:grpSpPr>
        <a:xfrm>
          <a:off x="0" y="0"/>
          <a:ext cx="0" cy="0"/>
          <a:chOff x="0" y="0"/>
          <a:chExt cx="0" cy="0"/>
        </a:xfrm>
      </p:grpSpPr>
      <p:sp>
        <p:nvSpPr>
          <p:cNvPr id="12" name="Google Shape;12;p3"/>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3" name="Google Shape;13;p3"/>
          <p:cNvSpPr txBox="1">
            <a:spLocks noGrp="1"/>
          </p:cNvSpPr>
          <p:nvPr>
            <p:ph type="body" idx="1"/>
          </p:nvPr>
        </p:nvSpPr>
        <p:spPr>
          <a:xfrm>
            <a:off x="457200" y="1200150"/>
            <a:ext cx="8229600"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4"/>
        <p:cNvGrpSpPr/>
        <p:nvPr/>
      </p:nvGrpSpPr>
      <p:grpSpPr>
        <a:xfrm>
          <a:off x="0" y="0"/>
          <a:ext cx="0" cy="0"/>
          <a:chOff x="0" y="0"/>
          <a:chExt cx="0" cy="0"/>
        </a:xfrm>
      </p:grpSpPr>
      <p:sp>
        <p:nvSpPr>
          <p:cNvPr id="15" name="Google Shape;15;p4"/>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6" name="Google Shape;16;p4"/>
          <p:cNvSpPr txBox="1">
            <a:spLocks noGrp="1"/>
          </p:cNvSpPr>
          <p:nvPr>
            <p:ph type="body" idx="1"/>
          </p:nvPr>
        </p:nvSpPr>
        <p:spPr>
          <a:xfrm>
            <a:off x="457200"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
        <p:nvSpPr>
          <p:cNvPr id="17" name="Google Shape;17;p4"/>
          <p:cNvSpPr txBox="1">
            <a:spLocks noGrp="1"/>
          </p:cNvSpPr>
          <p:nvPr>
            <p:ph type="body" idx="2"/>
          </p:nvPr>
        </p:nvSpPr>
        <p:spPr>
          <a:xfrm>
            <a:off x="4692274" y="1200150"/>
            <a:ext cx="3994526" cy="3725681"/>
          </a:xfrm>
          <a:prstGeom prst="rect">
            <a:avLst/>
          </a:prstGeom>
        </p:spPr>
        <p:txBody>
          <a:bodyPr spcFirstLastPara="1" wrap="square" lIns="91425" tIns="91425" rIns="91425" bIns="91425" anchor="t" anchorCtr="0">
            <a:noAutofit/>
          </a:bodyPr>
          <a:lstStyle>
            <a:lvl1pPr marL="457200" lvl="0" indent="-419100">
              <a:spcBef>
                <a:spcPts val="600"/>
              </a:spcBef>
              <a:spcAft>
                <a:spcPts val="0"/>
              </a:spcAft>
              <a:buSzPts val="3000"/>
              <a:buChar char="●"/>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8"/>
        <p:cNvGrpSpPr/>
        <p:nvPr/>
      </p:nvGrpSpPr>
      <p:grpSpPr>
        <a:xfrm>
          <a:off x="0" y="0"/>
          <a:ext cx="0" cy="0"/>
          <a:chOff x="0" y="0"/>
          <a:chExt cx="0" cy="0"/>
        </a:xfrm>
      </p:grpSpPr>
      <p:sp>
        <p:nvSpPr>
          <p:cNvPr id="19" name="Google Shape;19;p5"/>
          <p:cNvSpPr txBox="1">
            <a:spLocks noGrp="1"/>
          </p:cNvSpPr>
          <p:nvPr>
            <p:ph type="title"/>
          </p:nvPr>
        </p:nvSpPr>
        <p:spPr>
          <a:xfrm>
            <a:off x="457200" y="205978"/>
            <a:ext cx="8229600" cy="85725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20"/>
        <p:cNvGrpSpPr/>
        <p:nvPr/>
      </p:nvGrpSpPr>
      <p:grpSpPr>
        <a:xfrm>
          <a:off x="0" y="0"/>
          <a:ext cx="0" cy="0"/>
          <a:chOff x="0" y="0"/>
          <a:chExt cx="0" cy="0"/>
        </a:xfrm>
      </p:grpSpPr>
      <p:sp>
        <p:nvSpPr>
          <p:cNvPr id="21" name="Google Shape;21;p6"/>
          <p:cNvSpPr txBox="1">
            <a:spLocks noGrp="1"/>
          </p:cNvSpPr>
          <p:nvPr>
            <p:ph type="body" idx="1"/>
          </p:nvPr>
        </p:nvSpPr>
        <p:spPr>
          <a:xfrm>
            <a:off x="457200" y="4406309"/>
            <a:ext cx="8229600" cy="519520"/>
          </a:xfrm>
          <a:prstGeom prst="rect">
            <a:avLst/>
          </a:prstGeom>
        </p:spPr>
        <p:txBody>
          <a:bodyPr spcFirstLastPara="1" wrap="square" lIns="91425" tIns="91425" rIns="91425" bIns="91425" anchor="t" anchorCtr="0">
            <a:noAutofit/>
          </a:bodyPr>
          <a:lstStyle>
            <a:lvl1pPr marL="457200" lvl="0" indent="-228600" algn="ctr">
              <a:spcBef>
                <a:spcPts val="360"/>
              </a:spcBef>
              <a:spcAft>
                <a:spcPts val="0"/>
              </a:spcAft>
              <a:buSzPts val="1800"/>
              <a:buNone/>
              <a:defRPr sz="1800"/>
            </a:lvl1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05978"/>
            <a:ext cx="8229600" cy="85725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3600"/>
              <a:buNone/>
              <a:defRPr sz="3600" b="1">
                <a:solidFill>
                  <a:schemeClr val="dk1"/>
                </a:solidFill>
              </a:defRPr>
            </a:lvl1pPr>
            <a:lvl2pPr lvl="1">
              <a:spcBef>
                <a:spcPts val="0"/>
              </a:spcBef>
              <a:spcAft>
                <a:spcPts val="0"/>
              </a:spcAft>
              <a:buClr>
                <a:schemeClr val="dk1"/>
              </a:buClr>
              <a:buSzPts val="3600"/>
              <a:buNone/>
              <a:defRPr sz="3600" b="1">
                <a:solidFill>
                  <a:schemeClr val="dk1"/>
                </a:solidFill>
              </a:defRPr>
            </a:lvl2pPr>
            <a:lvl3pPr lvl="2">
              <a:spcBef>
                <a:spcPts val="0"/>
              </a:spcBef>
              <a:spcAft>
                <a:spcPts val="0"/>
              </a:spcAft>
              <a:buClr>
                <a:schemeClr val="dk1"/>
              </a:buClr>
              <a:buSzPts val="3600"/>
              <a:buNone/>
              <a:defRPr sz="3600" b="1">
                <a:solidFill>
                  <a:schemeClr val="dk1"/>
                </a:solidFill>
              </a:defRPr>
            </a:lvl3pPr>
            <a:lvl4pPr lvl="3">
              <a:spcBef>
                <a:spcPts val="0"/>
              </a:spcBef>
              <a:spcAft>
                <a:spcPts val="0"/>
              </a:spcAft>
              <a:buClr>
                <a:schemeClr val="dk1"/>
              </a:buClr>
              <a:buSzPts val="3600"/>
              <a:buNone/>
              <a:defRPr sz="3600" b="1">
                <a:solidFill>
                  <a:schemeClr val="dk1"/>
                </a:solidFill>
              </a:defRPr>
            </a:lvl4pPr>
            <a:lvl5pPr lvl="4">
              <a:spcBef>
                <a:spcPts val="0"/>
              </a:spcBef>
              <a:spcAft>
                <a:spcPts val="0"/>
              </a:spcAft>
              <a:buClr>
                <a:schemeClr val="dk1"/>
              </a:buClr>
              <a:buSzPts val="3600"/>
              <a:buNone/>
              <a:defRPr sz="3600" b="1">
                <a:solidFill>
                  <a:schemeClr val="dk1"/>
                </a:solidFill>
              </a:defRPr>
            </a:lvl5pPr>
            <a:lvl6pPr lvl="5">
              <a:spcBef>
                <a:spcPts val="0"/>
              </a:spcBef>
              <a:spcAft>
                <a:spcPts val="0"/>
              </a:spcAft>
              <a:buClr>
                <a:schemeClr val="dk1"/>
              </a:buClr>
              <a:buSzPts val="3600"/>
              <a:buNone/>
              <a:defRPr sz="3600" b="1">
                <a:solidFill>
                  <a:schemeClr val="dk1"/>
                </a:solidFill>
              </a:defRPr>
            </a:lvl6pPr>
            <a:lvl7pPr lvl="6">
              <a:spcBef>
                <a:spcPts val="0"/>
              </a:spcBef>
              <a:spcAft>
                <a:spcPts val="0"/>
              </a:spcAft>
              <a:buClr>
                <a:schemeClr val="dk1"/>
              </a:buClr>
              <a:buSzPts val="3600"/>
              <a:buNone/>
              <a:defRPr sz="3600" b="1">
                <a:solidFill>
                  <a:schemeClr val="dk1"/>
                </a:solidFill>
              </a:defRPr>
            </a:lvl7pPr>
            <a:lvl8pPr lvl="7">
              <a:spcBef>
                <a:spcPts val="0"/>
              </a:spcBef>
              <a:spcAft>
                <a:spcPts val="0"/>
              </a:spcAft>
              <a:buClr>
                <a:schemeClr val="dk1"/>
              </a:buClr>
              <a:buSzPts val="3600"/>
              <a:buNone/>
              <a:defRPr sz="3600" b="1">
                <a:solidFill>
                  <a:schemeClr val="dk1"/>
                </a:solidFill>
              </a:defRPr>
            </a:lvl8pPr>
            <a:lvl9pPr lvl="8">
              <a:spcBef>
                <a:spcPts val="0"/>
              </a:spcBef>
              <a:spcAft>
                <a:spcPts val="0"/>
              </a:spcAft>
              <a:buClr>
                <a:schemeClr val="dk1"/>
              </a:buClr>
              <a:buSzPts val="3600"/>
              <a:buNone/>
              <a:defRPr sz="3600" b="1">
                <a:solidFill>
                  <a:schemeClr val="dk1"/>
                </a:solidFill>
              </a:defRPr>
            </a:lvl9pPr>
          </a:lstStyle>
          <a:p>
            <a:endParaRPr/>
          </a:p>
        </p:txBody>
      </p:sp>
      <p:sp>
        <p:nvSpPr>
          <p:cNvPr id="7" name="Google Shape;7;p1"/>
          <p:cNvSpPr txBox="1">
            <a:spLocks noGrp="1"/>
          </p:cNvSpPr>
          <p:nvPr>
            <p:ph type="body" idx="1"/>
          </p:nvPr>
        </p:nvSpPr>
        <p:spPr>
          <a:xfrm>
            <a:off x="457200" y="1200150"/>
            <a:ext cx="8229600" cy="3725681"/>
          </a:xfrm>
          <a:prstGeom prst="rect">
            <a:avLst/>
          </a:prstGeom>
          <a:noFill/>
          <a:ln>
            <a:noFill/>
          </a:ln>
        </p:spPr>
        <p:txBody>
          <a:bodyPr spcFirstLastPara="1" wrap="square" lIns="91425" tIns="91425" rIns="91425" bIns="91425" anchor="t" anchorCtr="0">
            <a:noAutofit/>
          </a:bodyPr>
          <a:lstStyle>
            <a:lvl1pPr marL="457200" lvl="0" indent="-419100">
              <a:spcBef>
                <a:spcPts val="600"/>
              </a:spcBef>
              <a:spcAft>
                <a:spcPts val="0"/>
              </a:spcAft>
              <a:buClr>
                <a:schemeClr val="dk1"/>
              </a:buClr>
              <a:buSzPts val="3000"/>
              <a:buChar char="●"/>
              <a:defRPr sz="3000">
                <a:solidFill>
                  <a:schemeClr val="dk1"/>
                </a:solidFill>
              </a:defRPr>
            </a:lvl1pPr>
            <a:lvl2pPr marL="914400" lvl="1" indent="-381000">
              <a:spcBef>
                <a:spcPts val="0"/>
              </a:spcBef>
              <a:spcAft>
                <a:spcPts val="0"/>
              </a:spcAft>
              <a:buClr>
                <a:schemeClr val="dk1"/>
              </a:buClr>
              <a:buSzPts val="2400"/>
              <a:buChar char="○"/>
              <a:defRPr sz="2400">
                <a:solidFill>
                  <a:schemeClr val="dk1"/>
                </a:solidFill>
              </a:defRPr>
            </a:lvl2pPr>
            <a:lvl3pPr marL="1371600" lvl="2" indent="-381000">
              <a:spcBef>
                <a:spcPts val="0"/>
              </a:spcBef>
              <a:spcAft>
                <a:spcPts val="0"/>
              </a:spcAft>
              <a:buClr>
                <a:schemeClr val="dk1"/>
              </a:buClr>
              <a:buSzPts val="2400"/>
              <a:buChar char="■"/>
              <a:defRPr sz="2400">
                <a:solidFill>
                  <a:schemeClr val="dk1"/>
                </a:solidFill>
              </a:defRPr>
            </a:lvl3pPr>
            <a:lvl4pPr marL="1828800" lvl="3" indent="-342900">
              <a:spcBef>
                <a:spcPts val="0"/>
              </a:spcBef>
              <a:spcAft>
                <a:spcPts val="0"/>
              </a:spcAft>
              <a:buClr>
                <a:schemeClr val="dk1"/>
              </a:buClr>
              <a:buSzPts val="1800"/>
              <a:buChar char="●"/>
              <a:defRPr sz="1800">
                <a:solidFill>
                  <a:schemeClr val="dk1"/>
                </a:solidFill>
              </a:defRPr>
            </a:lvl4pPr>
            <a:lvl5pPr marL="2286000" lvl="4" indent="-342900">
              <a:spcBef>
                <a:spcPts val="0"/>
              </a:spcBef>
              <a:spcAft>
                <a:spcPts val="0"/>
              </a:spcAft>
              <a:buClr>
                <a:schemeClr val="dk1"/>
              </a:buClr>
              <a:buSzPts val="1800"/>
              <a:buChar char="○"/>
              <a:defRPr sz="1800">
                <a:solidFill>
                  <a:schemeClr val="dk1"/>
                </a:solidFill>
              </a:defRPr>
            </a:lvl5pPr>
            <a:lvl6pPr marL="2743200" lvl="5" indent="-342900">
              <a:spcBef>
                <a:spcPts val="0"/>
              </a:spcBef>
              <a:spcAft>
                <a:spcPts val="0"/>
              </a:spcAft>
              <a:buClr>
                <a:schemeClr val="dk1"/>
              </a:buClr>
              <a:buSzPts val="1800"/>
              <a:buChar char="■"/>
              <a:defRPr sz="1800">
                <a:solidFill>
                  <a:schemeClr val="dk1"/>
                </a:solidFill>
              </a:defRPr>
            </a:lvl6pPr>
            <a:lvl7pPr marL="3200400" lvl="6" indent="-342900">
              <a:spcBef>
                <a:spcPts val="0"/>
              </a:spcBef>
              <a:spcAft>
                <a:spcPts val="0"/>
              </a:spcAft>
              <a:buClr>
                <a:schemeClr val="dk1"/>
              </a:buClr>
              <a:buSzPts val="1800"/>
              <a:buChar char="●"/>
              <a:defRPr sz="1800">
                <a:solidFill>
                  <a:schemeClr val="dk1"/>
                </a:solidFill>
              </a:defRPr>
            </a:lvl7pPr>
            <a:lvl8pPr marL="3657600" lvl="7" indent="-342900">
              <a:spcBef>
                <a:spcPts val="0"/>
              </a:spcBef>
              <a:spcAft>
                <a:spcPts val="0"/>
              </a:spcAft>
              <a:buClr>
                <a:schemeClr val="dk1"/>
              </a:buClr>
              <a:buSzPts val="1800"/>
              <a:buChar char="○"/>
              <a:defRPr sz="1800">
                <a:solidFill>
                  <a:schemeClr val="dk1"/>
                </a:solidFill>
              </a:defRPr>
            </a:lvl8pPr>
            <a:lvl9pPr marL="4114800" lvl="8" indent="-342900">
              <a:spcBef>
                <a:spcPts val="0"/>
              </a:spcBef>
              <a:spcAft>
                <a:spcPts val="0"/>
              </a:spcAft>
              <a:buClr>
                <a:schemeClr val="dk1"/>
              </a:buClr>
              <a:buSzPts val="1800"/>
              <a:buChar char="■"/>
              <a:defRPr sz="1800">
                <a:solidFill>
                  <a:schemeClr val="dk1"/>
                </a:solidFill>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6"/>
        <p:cNvGrpSpPr/>
        <p:nvPr/>
      </p:nvGrpSpPr>
      <p:grpSpPr>
        <a:xfrm>
          <a:off x="0" y="0"/>
          <a:ext cx="0" cy="0"/>
          <a:chOff x="0" y="0"/>
          <a:chExt cx="0" cy="0"/>
        </a:xfrm>
      </p:grpSpPr>
      <p:sp>
        <p:nvSpPr>
          <p:cNvPr id="27" name="Google Shape;27;p8"/>
          <p:cNvSpPr txBox="1">
            <a:spLocks noGrp="1"/>
          </p:cNvSpPr>
          <p:nvPr>
            <p:ph type="ctrTitle"/>
          </p:nvPr>
        </p:nvSpPr>
        <p:spPr>
          <a:xfrm>
            <a:off x="685800" y="1583342"/>
            <a:ext cx="7772400" cy="115985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VISIT - How to visualize IBAMR Data</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1"/>
        <p:cNvGrpSpPr/>
        <p:nvPr/>
      </p:nvGrpSpPr>
      <p:grpSpPr>
        <a:xfrm>
          <a:off x="0" y="0"/>
          <a:ext cx="0" cy="0"/>
          <a:chOff x="0" y="0"/>
          <a:chExt cx="0" cy="0"/>
        </a:xfrm>
      </p:grpSpPr>
      <p:pic>
        <p:nvPicPr>
          <p:cNvPr id="32" name="Google Shape;32;p9"/>
          <p:cNvPicPr preferRelativeResize="0"/>
          <p:nvPr/>
        </p:nvPicPr>
        <p:blipFill>
          <a:blip r:embed="rId3">
            <a:alphaModFix/>
          </a:blip>
          <a:stretch>
            <a:fillRect/>
          </a:stretch>
        </p:blipFill>
        <p:spPr>
          <a:xfrm>
            <a:off x="2277175" y="1499825"/>
            <a:ext cx="4848225" cy="3190875"/>
          </a:xfrm>
          <a:prstGeom prst="rect">
            <a:avLst/>
          </a:prstGeom>
          <a:noFill/>
          <a:ln>
            <a:noFill/>
          </a:ln>
        </p:spPr>
      </p:pic>
      <p:sp>
        <p:nvSpPr>
          <p:cNvPr id="33" name="Google Shape;33;p9"/>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Download Visit, and open it.</a:t>
            </a:r>
            <a:endParaRPr/>
          </a:p>
        </p:txBody>
      </p:sp>
      <p:sp>
        <p:nvSpPr>
          <p:cNvPr id="34" name="Google Shape;34;p9"/>
          <p:cNvSpPr txBox="1"/>
          <p:nvPr/>
        </p:nvSpPr>
        <p:spPr>
          <a:xfrm>
            <a:off x="457188" y="1071750"/>
            <a:ext cx="96003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https://wci.llnl.gov/simulation/computer-codes/visit/downloads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Get some sample data</a:t>
            </a:r>
            <a:endParaRPr lang="en-US" dirty="0"/>
          </a:p>
        </p:txBody>
      </p:sp>
      <p:sp>
        <p:nvSpPr>
          <p:cNvPr id="3" name="Text Placeholder 2"/>
          <p:cNvSpPr>
            <a:spLocks noGrp="1"/>
          </p:cNvSpPr>
          <p:nvPr>
            <p:ph type="body" idx="1"/>
          </p:nvPr>
        </p:nvSpPr>
        <p:spPr/>
        <p:txBody>
          <a:bodyPr/>
          <a:lstStyle/>
          <a:p>
            <a:r>
              <a:rPr lang="en-US" sz="2400" dirty="0"/>
              <a:t>[link removed]</a:t>
            </a:r>
            <a:endParaRPr lang="en-US" sz="2400" dirty="0" smtClean="0"/>
          </a:p>
          <a:p>
            <a:r>
              <a:rPr lang="en-US" sz="2400" dirty="0" smtClean="0"/>
              <a:t>This data is for a 2D simulation of flow past a triangle.</a:t>
            </a:r>
            <a:endParaRPr lang="en-US" sz="2400" dirty="0"/>
          </a:p>
        </p:txBody>
      </p:sp>
    </p:spTree>
    <p:extLst>
      <p:ext uri="{BB962C8B-B14F-4D97-AF65-F5344CB8AC3E}">
        <p14:creationId xmlns:p14="http://schemas.microsoft.com/office/powerpoint/2010/main" val="23586556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0"/>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Set some preferences</a:t>
            </a:r>
            <a:endParaRPr/>
          </a:p>
        </p:txBody>
      </p:sp>
      <p:sp>
        <p:nvSpPr>
          <p:cNvPr id="40" name="Google Shape;40;p10"/>
          <p:cNvSpPr txBox="1"/>
          <p:nvPr/>
        </p:nvSpPr>
        <p:spPr>
          <a:xfrm>
            <a:off x="518225" y="1217850"/>
            <a:ext cx="7825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Next click on the </a:t>
            </a:r>
            <a:r>
              <a:rPr lang="en" sz="1600" i="1">
                <a:solidFill>
                  <a:schemeClr val="dk1"/>
                </a:solidFill>
              </a:rPr>
              <a:t>Visit 2.5.2</a:t>
            </a:r>
            <a:r>
              <a:rPr lang="en" sz="1600">
                <a:solidFill>
                  <a:schemeClr val="dk1"/>
                </a:solidFill>
              </a:rPr>
              <a:t> next to </a:t>
            </a:r>
            <a:r>
              <a:rPr lang="en" sz="1600" i="1">
                <a:solidFill>
                  <a:schemeClr val="dk1"/>
                </a:solidFill>
              </a:rPr>
              <a:t>File</a:t>
            </a:r>
            <a:r>
              <a:rPr lang="en" sz="1600">
                <a:solidFill>
                  <a:schemeClr val="dk1"/>
                </a:solidFill>
              </a:rPr>
              <a:t> and click on </a:t>
            </a:r>
            <a:r>
              <a:rPr lang="en" sz="1600" i="1">
                <a:solidFill>
                  <a:schemeClr val="dk1"/>
                </a:solidFill>
              </a:rPr>
              <a:t>Preferences </a:t>
            </a:r>
            <a:r>
              <a:rPr lang="en" sz="1600">
                <a:solidFill>
                  <a:schemeClr val="dk1"/>
                </a:solidFill>
              </a:rPr>
              <a:t>and then UNCHECK the box that reads </a:t>
            </a:r>
            <a:r>
              <a:rPr lang="en" sz="1600" i="1">
                <a:solidFill>
                  <a:schemeClr val="dk1"/>
                </a:solidFill>
              </a:rPr>
              <a:t>Enable Warning Message Popups</a:t>
            </a:r>
            <a:r>
              <a:rPr lang="en" sz="1600">
                <a:solidFill>
                  <a:schemeClr val="dk1"/>
                </a:solidFill>
              </a:rPr>
              <a:t>. (The reason for this is because when we start saving movies, a pop-up will spring up every time-step, which quite frankly can gets rather annoying).</a:t>
            </a:r>
            <a:endParaRPr sz="1600">
              <a:solidFill>
                <a:schemeClr val="dk1"/>
              </a:solidFill>
            </a:endParaRPr>
          </a:p>
        </p:txBody>
      </p:sp>
      <p:pic>
        <p:nvPicPr>
          <p:cNvPr id="41" name="Google Shape;41;p10"/>
          <p:cNvPicPr preferRelativeResize="0"/>
          <p:nvPr/>
        </p:nvPicPr>
        <p:blipFill>
          <a:blip r:embed="rId3">
            <a:alphaModFix/>
          </a:blip>
          <a:stretch>
            <a:fillRect/>
          </a:stretch>
        </p:blipFill>
        <p:spPr>
          <a:xfrm>
            <a:off x="1627438" y="2751538"/>
            <a:ext cx="6219825" cy="1914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1"/>
          <p:cNvSpPr txBox="1"/>
          <p:nvPr/>
        </p:nvSpPr>
        <p:spPr>
          <a:xfrm>
            <a:off x="374250" y="971725"/>
            <a:ext cx="83955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Now let’s begin throwing in our data! The first thing we need do open is the geometry files, i.e., the </a:t>
            </a:r>
            <a:r>
              <a:rPr lang="en" sz="1600" i="1">
                <a:solidFill>
                  <a:schemeClr val="dk1"/>
                </a:solidFill>
              </a:rPr>
              <a:t>lag_data.visit</a:t>
            </a:r>
            <a:r>
              <a:rPr lang="en" sz="1600">
                <a:solidFill>
                  <a:schemeClr val="dk1"/>
                </a:solidFill>
              </a:rPr>
              <a:t> files. To do this click the open icon, and enter the directory pathway pointing to the sample data file.</a:t>
            </a:r>
            <a:endParaRPr sz="1600">
              <a:solidFill>
                <a:schemeClr val="dk1"/>
              </a:solidFill>
            </a:endParaRPr>
          </a:p>
        </p:txBody>
      </p:sp>
      <p:sp>
        <p:nvSpPr>
          <p:cNvPr id="47" name="Google Shape;47;p11"/>
          <p:cNvSpPr txBox="1">
            <a:spLocks noGrp="1"/>
          </p:cNvSpPr>
          <p:nvPr>
            <p:ph type="title" idx="4294967295"/>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boundary data</a:t>
            </a:r>
            <a:endParaRPr/>
          </a:p>
        </p:txBody>
      </p:sp>
      <p:pic>
        <p:nvPicPr>
          <p:cNvPr id="48" name="Google Shape;48;p11"/>
          <p:cNvPicPr preferRelativeResize="0"/>
          <p:nvPr/>
        </p:nvPicPr>
        <p:blipFill>
          <a:blip r:embed="rId3">
            <a:alphaModFix/>
          </a:blip>
          <a:stretch>
            <a:fillRect/>
          </a:stretch>
        </p:blipFill>
        <p:spPr>
          <a:xfrm>
            <a:off x="1210088" y="1873338"/>
            <a:ext cx="1857375" cy="3114675"/>
          </a:xfrm>
          <a:prstGeom prst="rect">
            <a:avLst/>
          </a:prstGeom>
          <a:noFill/>
          <a:ln>
            <a:noFill/>
          </a:ln>
        </p:spPr>
      </p:pic>
      <p:pic>
        <p:nvPicPr>
          <p:cNvPr id="49" name="Google Shape;49;p11"/>
          <p:cNvPicPr preferRelativeResize="0"/>
          <p:nvPr/>
        </p:nvPicPr>
        <p:blipFill>
          <a:blip r:embed="rId4">
            <a:alphaModFix/>
          </a:blip>
          <a:stretch>
            <a:fillRect/>
          </a:stretch>
        </p:blipFill>
        <p:spPr>
          <a:xfrm>
            <a:off x="3618875" y="1639125"/>
            <a:ext cx="4381500" cy="3200400"/>
          </a:xfrm>
          <a:prstGeom prst="rect">
            <a:avLst/>
          </a:prstGeom>
          <a:noFill/>
          <a:ln>
            <a:noFill/>
          </a:ln>
        </p:spPr>
      </p:pic>
      <p:cxnSp>
        <p:nvCxnSpPr>
          <p:cNvPr id="50" name="Google Shape;50;p11"/>
          <p:cNvCxnSpPr/>
          <p:nvPr/>
        </p:nvCxnSpPr>
        <p:spPr>
          <a:xfrm rot="10800000" flipH="1">
            <a:off x="595975" y="2617075"/>
            <a:ext cx="777300" cy="4794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
        <p:cNvGrpSpPr/>
        <p:nvPr/>
      </p:nvGrpSpPr>
      <p:grpSpPr>
        <a:xfrm>
          <a:off x="0" y="0"/>
          <a:ext cx="0" cy="0"/>
          <a:chOff x="0" y="0"/>
          <a:chExt cx="0" cy="0"/>
        </a:xfrm>
      </p:grpSpPr>
      <p:sp>
        <p:nvSpPr>
          <p:cNvPr id="55" name="Google Shape;55;p12"/>
          <p:cNvSpPr txBox="1"/>
          <p:nvPr/>
        </p:nvSpPr>
        <p:spPr>
          <a:xfrm>
            <a:off x="669263" y="959750"/>
            <a:ext cx="80844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Once you click </a:t>
            </a:r>
            <a:r>
              <a:rPr lang="en" sz="1600" i="1">
                <a:solidFill>
                  <a:schemeClr val="dk1"/>
                </a:solidFill>
              </a:rPr>
              <a:t>ok</a:t>
            </a:r>
            <a:r>
              <a:rPr lang="en" sz="1600">
                <a:solidFill>
                  <a:schemeClr val="dk1"/>
                </a:solidFill>
              </a:rPr>
              <a:t>, it will return to what is a blank screen. All we did so far was open the file – we need to tell it to draw the Lagrangian points!</a:t>
            </a:r>
            <a:endParaRPr sz="1600">
              <a:solidFill>
                <a:schemeClr val="dk1"/>
              </a:solidFill>
            </a:endParaRPr>
          </a:p>
          <a:p>
            <a:pPr marL="0" lvl="0" indent="0" algn="l" rtl="0">
              <a:spcBef>
                <a:spcPts val="0"/>
              </a:spcBef>
              <a:spcAft>
                <a:spcPts val="0"/>
              </a:spcAft>
              <a:buNone/>
            </a:pPr>
            <a:r>
              <a:rPr lang="en" sz="1600">
                <a:solidFill>
                  <a:schemeClr val="dk1"/>
                </a:solidFill>
              </a:rPr>
              <a:t> </a:t>
            </a:r>
            <a:endParaRPr sz="1600">
              <a:solidFill>
                <a:schemeClr val="dk1"/>
              </a:solidFill>
            </a:endParaRPr>
          </a:p>
          <a:p>
            <a:pPr marL="0" lvl="0" indent="0" algn="l" rtl="0">
              <a:spcBef>
                <a:spcPts val="0"/>
              </a:spcBef>
              <a:spcAft>
                <a:spcPts val="0"/>
              </a:spcAft>
              <a:buNone/>
            </a:pPr>
            <a:r>
              <a:rPr lang="en" sz="1600">
                <a:solidFill>
                  <a:schemeClr val="dk1"/>
                </a:solidFill>
              </a:rPr>
              <a:t>To do this first click the </a:t>
            </a:r>
            <a:r>
              <a:rPr lang="en" sz="1600" i="1">
                <a:solidFill>
                  <a:schemeClr val="dk1"/>
                </a:solidFill>
              </a:rPr>
              <a:t>Add</a:t>
            </a:r>
            <a:r>
              <a:rPr lang="en" sz="1600">
                <a:solidFill>
                  <a:schemeClr val="dk1"/>
                </a:solidFill>
              </a:rPr>
              <a:t> button and then click on </a:t>
            </a:r>
            <a:r>
              <a:rPr lang="en" sz="1600" i="1">
                <a:solidFill>
                  <a:schemeClr val="dk1"/>
                </a:solidFill>
              </a:rPr>
              <a:t>cones2d_512_vertices </a:t>
            </a:r>
            <a:r>
              <a:rPr lang="en" sz="1600">
                <a:solidFill>
                  <a:schemeClr val="dk1"/>
                </a:solidFill>
              </a:rPr>
              <a:t>under the </a:t>
            </a:r>
            <a:r>
              <a:rPr lang="en" sz="1600" i="1">
                <a:solidFill>
                  <a:schemeClr val="dk1"/>
                </a:solidFill>
              </a:rPr>
              <a:t>mesh </a:t>
            </a:r>
            <a:r>
              <a:rPr lang="en" sz="1600">
                <a:solidFill>
                  <a:schemeClr val="dk1"/>
                </a:solidFill>
              </a:rPr>
              <a:t>option. (Note that this file was called </a:t>
            </a:r>
            <a:r>
              <a:rPr lang="en" sz="1600" i="1">
                <a:solidFill>
                  <a:schemeClr val="dk1"/>
                </a:solidFill>
              </a:rPr>
              <a:t>trab_tube.vertices </a:t>
            </a:r>
            <a:r>
              <a:rPr lang="en" sz="1600">
                <a:solidFill>
                  <a:schemeClr val="dk1"/>
                </a:solidFill>
              </a:rPr>
              <a:t>in the screen shot).</a:t>
            </a:r>
            <a:endParaRPr sz="1600">
              <a:solidFill>
                <a:schemeClr val="dk1"/>
              </a:solidFill>
            </a:endParaRPr>
          </a:p>
        </p:txBody>
      </p:sp>
      <p:pic>
        <p:nvPicPr>
          <p:cNvPr id="56" name="Google Shape;56;p12"/>
          <p:cNvPicPr preferRelativeResize="0"/>
          <p:nvPr/>
        </p:nvPicPr>
        <p:blipFill>
          <a:blip r:embed="rId3">
            <a:alphaModFix/>
          </a:blip>
          <a:stretch>
            <a:fillRect/>
          </a:stretch>
        </p:blipFill>
        <p:spPr>
          <a:xfrm>
            <a:off x="2344488" y="2381250"/>
            <a:ext cx="4733925" cy="2762250"/>
          </a:xfrm>
          <a:prstGeom prst="rect">
            <a:avLst/>
          </a:prstGeom>
          <a:noFill/>
          <a:ln>
            <a:noFill/>
          </a:ln>
        </p:spPr>
      </p:pic>
      <p:cxnSp>
        <p:nvCxnSpPr>
          <p:cNvPr id="57" name="Google Shape;57;p12"/>
          <p:cNvCxnSpPr/>
          <p:nvPr/>
        </p:nvCxnSpPr>
        <p:spPr>
          <a:xfrm>
            <a:off x="1787925" y="4145900"/>
            <a:ext cx="712500" cy="621900"/>
          </a:xfrm>
          <a:prstGeom prst="straightConnector1">
            <a:avLst/>
          </a:prstGeom>
          <a:noFill/>
          <a:ln w="28575" cap="flat" cmpd="sng">
            <a:solidFill>
              <a:srgbClr val="FF0000"/>
            </a:solidFill>
            <a:prstDash val="solid"/>
            <a:round/>
            <a:headEnd type="none" w="med" len="med"/>
            <a:tailEnd type="triangle" w="med" len="med"/>
          </a:ln>
        </p:spPr>
      </p:cxnSp>
      <p:sp>
        <p:nvSpPr>
          <p:cNvPr id="58" name="Google Shape;58;p12"/>
          <p:cNvSpPr txBox="1">
            <a:spLocks noGrp="1"/>
          </p:cNvSpPr>
          <p:nvPr>
            <p:ph type="title" idx="4294967295"/>
          </p:nvPr>
        </p:nvSpPr>
        <p:spPr>
          <a:xfrm>
            <a:off x="405375" y="102353"/>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boundary data</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Plot the boundary</a:t>
            </a:r>
            <a:endParaRPr/>
          </a:p>
        </p:txBody>
      </p:sp>
      <p:sp>
        <p:nvSpPr>
          <p:cNvPr id="64" name="Google Shape;64;p13"/>
          <p:cNvSpPr txBox="1"/>
          <p:nvPr/>
        </p:nvSpPr>
        <p:spPr>
          <a:xfrm>
            <a:off x="529800" y="1282650"/>
            <a:ext cx="80844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 You will probably also notice that even though we opened the Lagrangian point file and added the </a:t>
            </a:r>
            <a:r>
              <a:rPr lang="en" sz="1600" i="1">
                <a:solidFill>
                  <a:schemeClr val="dk1"/>
                </a:solidFill>
              </a:rPr>
              <a:t>mesh</a:t>
            </a:r>
            <a:r>
              <a:rPr lang="en" sz="1600">
                <a:solidFill>
                  <a:schemeClr val="dk1"/>
                </a:solidFill>
              </a:rPr>
              <a:t> in Visit, nothing has shown up. Well now we will finally draw the geometry.  To do this, just click on the </a:t>
            </a:r>
            <a:r>
              <a:rPr lang="en" sz="1600" i="1">
                <a:solidFill>
                  <a:schemeClr val="dk1"/>
                </a:solidFill>
              </a:rPr>
              <a:t>mesh</a:t>
            </a:r>
            <a:r>
              <a:rPr lang="en" sz="1600">
                <a:solidFill>
                  <a:schemeClr val="dk1"/>
                </a:solidFill>
              </a:rPr>
              <a:t>-</a:t>
            </a:r>
            <a:r>
              <a:rPr lang="en" sz="1600" i="1">
                <a:solidFill>
                  <a:schemeClr val="dk1"/>
                </a:solidFill>
              </a:rPr>
              <a:t> cones2d_512 </a:t>
            </a:r>
            <a:r>
              <a:rPr lang="en" sz="1600">
                <a:solidFill>
                  <a:schemeClr val="dk1"/>
                </a:solidFill>
              </a:rPr>
              <a:t>part and click on </a:t>
            </a:r>
            <a:r>
              <a:rPr lang="en" sz="1600" i="1">
                <a:solidFill>
                  <a:schemeClr val="dk1"/>
                </a:solidFill>
              </a:rPr>
              <a:t>Draw.</a:t>
            </a:r>
            <a:endParaRPr sz="1600" i="1">
              <a:solidFill>
                <a:schemeClr val="dk1"/>
              </a:solidFill>
            </a:endParaRPr>
          </a:p>
        </p:txBody>
      </p:sp>
      <p:pic>
        <p:nvPicPr>
          <p:cNvPr id="65" name="Google Shape;65;p13"/>
          <p:cNvPicPr preferRelativeResize="0"/>
          <p:nvPr/>
        </p:nvPicPr>
        <p:blipFill>
          <a:blip r:embed="rId3">
            <a:alphaModFix/>
          </a:blip>
          <a:stretch>
            <a:fillRect/>
          </a:stretch>
        </p:blipFill>
        <p:spPr>
          <a:xfrm>
            <a:off x="2933488" y="2691663"/>
            <a:ext cx="3400425" cy="14382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70" name="Google Shape;70;p1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Now you should see the boundary</a:t>
            </a:r>
            <a:endParaRPr/>
          </a:p>
        </p:txBody>
      </p:sp>
      <p:pic>
        <p:nvPicPr>
          <p:cNvPr id="71" name="Google Shape;71;p14"/>
          <p:cNvPicPr preferRelativeResize="0"/>
          <p:nvPr/>
        </p:nvPicPr>
        <p:blipFill>
          <a:blip r:embed="rId3">
            <a:alphaModFix/>
          </a:blip>
          <a:stretch>
            <a:fillRect/>
          </a:stretch>
        </p:blipFill>
        <p:spPr>
          <a:xfrm>
            <a:off x="1776975" y="1158300"/>
            <a:ext cx="5486400" cy="3733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Open the velocity data</a:t>
            </a:r>
            <a:endParaRPr/>
          </a:p>
        </p:txBody>
      </p:sp>
      <p:sp>
        <p:nvSpPr>
          <p:cNvPr id="77" name="Google Shape;77;p15"/>
          <p:cNvSpPr txBox="1"/>
          <p:nvPr/>
        </p:nvSpPr>
        <p:spPr>
          <a:xfrm>
            <a:off x="381900" y="1071750"/>
            <a:ext cx="83049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First we need to open the data file called </a:t>
            </a:r>
            <a:r>
              <a:rPr lang="en" sz="1600" i="1">
                <a:solidFill>
                  <a:schemeClr val="dk1"/>
                </a:solidFill>
              </a:rPr>
              <a:t>dumps.visit</a:t>
            </a:r>
            <a:r>
              <a:rPr lang="en" sz="1600">
                <a:solidFill>
                  <a:schemeClr val="dk1"/>
                </a:solidFill>
              </a:rPr>
              <a:t>, which contains all dynamical information from the simulation. We open this file in a similar manner to how we opened the </a:t>
            </a:r>
            <a:r>
              <a:rPr lang="en" sz="1600" i="1">
                <a:solidFill>
                  <a:schemeClr val="dk1"/>
                </a:solidFill>
              </a:rPr>
              <a:t>lag_data.visit</a:t>
            </a:r>
            <a:r>
              <a:rPr lang="en" sz="1600">
                <a:solidFill>
                  <a:schemeClr val="dk1"/>
                </a:solidFill>
              </a:rPr>
              <a:t> file earlier. Click the open tab, and then click the </a:t>
            </a:r>
            <a:r>
              <a:rPr lang="en" sz="1600" i="1">
                <a:solidFill>
                  <a:schemeClr val="dk1"/>
                </a:solidFill>
              </a:rPr>
              <a:t>dumps.visit</a:t>
            </a:r>
            <a:r>
              <a:rPr lang="en" sz="1600">
                <a:solidFill>
                  <a:schemeClr val="dk1"/>
                </a:solidFill>
              </a:rPr>
              <a:t> file and </a:t>
            </a:r>
            <a:r>
              <a:rPr lang="en" sz="1600" i="1">
                <a:solidFill>
                  <a:schemeClr val="dk1"/>
                </a:solidFill>
              </a:rPr>
              <a:t>ok</a:t>
            </a:r>
            <a:r>
              <a:rPr lang="en" sz="1600">
                <a:solidFill>
                  <a:schemeClr val="dk1"/>
                </a:solidFill>
              </a:rPr>
              <a:t>.</a:t>
            </a:r>
            <a:endParaRPr sz="1600">
              <a:solidFill>
                <a:schemeClr val="dk1"/>
              </a:solidFill>
            </a:endParaRPr>
          </a:p>
        </p:txBody>
      </p:sp>
      <p:pic>
        <p:nvPicPr>
          <p:cNvPr id="78" name="Google Shape;78;p15"/>
          <p:cNvPicPr preferRelativeResize="0"/>
          <p:nvPr/>
        </p:nvPicPr>
        <p:blipFill>
          <a:blip r:embed="rId3">
            <a:alphaModFix/>
          </a:blip>
          <a:stretch>
            <a:fillRect/>
          </a:stretch>
        </p:blipFill>
        <p:spPr>
          <a:xfrm>
            <a:off x="2570423" y="1978400"/>
            <a:ext cx="3777975" cy="28729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xfrm>
            <a:off x="457200" y="3"/>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You should see the following</a:t>
            </a:r>
            <a:endParaRPr/>
          </a:p>
        </p:txBody>
      </p:sp>
      <p:pic>
        <p:nvPicPr>
          <p:cNvPr id="84" name="Google Shape;84;p16"/>
          <p:cNvPicPr preferRelativeResize="0"/>
          <p:nvPr/>
        </p:nvPicPr>
        <p:blipFill>
          <a:blip r:embed="rId3">
            <a:alphaModFix/>
          </a:blip>
          <a:stretch>
            <a:fillRect/>
          </a:stretch>
        </p:blipFill>
        <p:spPr>
          <a:xfrm>
            <a:off x="2283800" y="2139725"/>
            <a:ext cx="4453275" cy="2870325"/>
          </a:xfrm>
          <a:prstGeom prst="rect">
            <a:avLst/>
          </a:prstGeom>
          <a:noFill/>
          <a:ln>
            <a:noFill/>
          </a:ln>
        </p:spPr>
      </p:pic>
      <p:sp>
        <p:nvSpPr>
          <p:cNvPr id="85" name="Google Shape;85;p16"/>
          <p:cNvSpPr txBox="1"/>
          <p:nvPr/>
        </p:nvSpPr>
        <p:spPr>
          <a:xfrm>
            <a:off x="509025" y="752425"/>
            <a:ext cx="82296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You will now see colored boxes that show up are large regions that involve different levels of the adaptive mesh. If you </a:t>
            </a:r>
            <a:r>
              <a:rPr lang="en" i="1">
                <a:solidFill>
                  <a:schemeClr val="dk1"/>
                </a:solidFill>
              </a:rPr>
              <a:t>play</a:t>
            </a:r>
            <a:r>
              <a:rPr lang="en">
                <a:solidFill>
                  <a:schemeClr val="dk1"/>
                </a:solidFill>
              </a:rPr>
              <a:t> the simulation now, you still won’t see any interesting dynamics, but you can see how different levels of the adaptive mesh refinement change to capture better resolution during the course of the simulation in certain areas. However, these boxes will get in the way of seeing a lot of the dynamics, so click of the </a:t>
            </a:r>
            <a:r>
              <a:rPr lang="en" i="1">
                <a:solidFill>
                  <a:schemeClr val="dk1"/>
                </a:solidFill>
              </a:rPr>
              <a:t>Hide/Show</a:t>
            </a:r>
            <a:r>
              <a:rPr lang="en">
                <a:solidFill>
                  <a:schemeClr val="dk1"/>
                </a:solidFill>
              </a:rPr>
              <a:t> button to hide them.</a:t>
            </a:r>
            <a:endParaRPr>
              <a:solidFill>
                <a:schemeClr val="dk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Plot the vorticity</a:t>
            </a:r>
            <a:endParaRPr/>
          </a:p>
        </p:txBody>
      </p:sp>
      <p:sp>
        <p:nvSpPr>
          <p:cNvPr id="91" name="Google Shape;91;p17"/>
          <p:cNvSpPr txBox="1"/>
          <p:nvPr/>
        </p:nvSpPr>
        <p:spPr>
          <a:xfrm>
            <a:off x="457200" y="1071750"/>
            <a:ext cx="82296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solidFill>
                  <a:schemeClr val="dk1"/>
                </a:solidFill>
              </a:rPr>
              <a:t>First we will open the </a:t>
            </a:r>
            <a:r>
              <a:rPr lang="en" i="1">
                <a:solidFill>
                  <a:schemeClr val="dk1"/>
                </a:solidFill>
              </a:rPr>
              <a:t>vorticity</a:t>
            </a:r>
            <a:r>
              <a:rPr lang="en">
                <a:solidFill>
                  <a:schemeClr val="dk1"/>
                </a:solidFill>
              </a:rPr>
              <a:t> data and plot a color-map for each time-step. To do this make sure the </a:t>
            </a:r>
            <a:r>
              <a:rPr lang="en" i="1">
                <a:solidFill>
                  <a:schemeClr val="dk1"/>
                </a:solidFill>
              </a:rPr>
              <a:t>Active Source</a:t>
            </a:r>
            <a:r>
              <a:rPr lang="en">
                <a:solidFill>
                  <a:schemeClr val="dk1"/>
                </a:solidFill>
              </a:rPr>
              <a:t> is </a:t>
            </a:r>
            <a:r>
              <a:rPr lang="en" i="1">
                <a:solidFill>
                  <a:schemeClr val="dk1"/>
                </a:solidFill>
              </a:rPr>
              <a:t>dumps.visit</a:t>
            </a:r>
            <a:r>
              <a:rPr lang="en">
                <a:solidFill>
                  <a:schemeClr val="dk1"/>
                </a:solidFill>
              </a:rPr>
              <a:t> is and then click on </a:t>
            </a:r>
            <a:r>
              <a:rPr lang="en" i="1">
                <a:solidFill>
                  <a:schemeClr val="dk1"/>
                </a:solidFill>
              </a:rPr>
              <a:t>Add </a:t>
            </a:r>
            <a:r>
              <a:rPr lang="en">
                <a:solidFill>
                  <a:schemeClr val="dk1"/>
                </a:solidFill>
              </a:rPr>
              <a:t>and hover over </a:t>
            </a:r>
            <a:r>
              <a:rPr lang="en" i="1">
                <a:solidFill>
                  <a:schemeClr val="dk1"/>
                </a:solidFill>
              </a:rPr>
              <a:t>Pseudocolor </a:t>
            </a:r>
            <a:r>
              <a:rPr lang="en">
                <a:solidFill>
                  <a:schemeClr val="dk1"/>
                </a:solidFill>
              </a:rPr>
              <a:t>and click on </a:t>
            </a:r>
            <a:r>
              <a:rPr lang="en" i="1">
                <a:solidFill>
                  <a:schemeClr val="dk1"/>
                </a:solidFill>
              </a:rPr>
              <a:t>Omega </a:t>
            </a:r>
            <a:r>
              <a:rPr lang="en">
                <a:solidFill>
                  <a:schemeClr val="dk1"/>
                </a:solidFill>
              </a:rPr>
              <a:t>for the vorticity colormap. Note: The other items in the list under </a:t>
            </a:r>
            <a:r>
              <a:rPr lang="en" i="1">
                <a:solidFill>
                  <a:schemeClr val="dk1"/>
                </a:solidFill>
              </a:rPr>
              <a:t>Pseudocolor</a:t>
            </a:r>
            <a:r>
              <a:rPr lang="en">
                <a:solidFill>
                  <a:schemeClr val="dk1"/>
                </a:solidFill>
              </a:rPr>
              <a:t> are other possible color-maps that are possible, but you can only really visualize one at a time.</a:t>
            </a:r>
            <a:endParaRPr>
              <a:solidFill>
                <a:schemeClr val="dk1"/>
              </a:solidFill>
            </a:endParaRPr>
          </a:p>
        </p:txBody>
      </p:sp>
      <p:pic>
        <p:nvPicPr>
          <p:cNvPr id="92" name="Google Shape;92;p17"/>
          <p:cNvPicPr preferRelativeResize="0"/>
          <p:nvPr/>
        </p:nvPicPr>
        <p:blipFill>
          <a:blip r:embed="rId3">
            <a:alphaModFix/>
          </a:blip>
          <a:stretch>
            <a:fillRect/>
          </a:stretch>
        </p:blipFill>
        <p:spPr>
          <a:xfrm>
            <a:off x="1562650" y="2137725"/>
            <a:ext cx="2201200" cy="2876225"/>
          </a:xfrm>
          <a:prstGeom prst="rect">
            <a:avLst/>
          </a:prstGeom>
          <a:noFill/>
          <a:ln>
            <a:noFill/>
          </a:ln>
        </p:spPr>
      </p:pic>
      <p:sp>
        <p:nvSpPr>
          <p:cNvPr id="93" name="Google Shape;93;p17"/>
          <p:cNvSpPr txBox="1"/>
          <p:nvPr/>
        </p:nvSpPr>
        <p:spPr>
          <a:xfrm>
            <a:off x="4599325" y="3148300"/>
            <a:ext cx="2973300" cy="609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a:t>Possible colormaps in order:</a:t>
            </a:r>
            <a:endParaRPr/>
          </a:p>
          <a:p>
            <a:pPr marL="0" lvl="0" indent="0" algn="l" rtl="0">
              <a:spcBef>
                <a:spcPts val="0"/>
              </a:spcBef>
              <a:spcAft>
                <a:spcPts val="0"/>
              </a:spcAft>
              <a:buClr>
                <a:schemeClr val="dk1"/>
              </a:buClr>
              <a:buSzPts val="1100"/>
              <a:buFont typeface="Arial"/>
              <a:buNone/>
            </a:pPr>
            <a:r>
              <a:rPr lang="en"/>
              <a:t>-Vorticity</a:t>
            </a:r>
            <a:endParaRPr/>
          </a:p>
          <a:p>
            <a:pPr marL="0" lvl="0" indent="0" algn="l" rtl="0">
              <a:spcBef>
                <a:spcPts val="0"/>
              </a:spcBef>
              <a:spcAft>
                <a:spcPts val="0"/>
              </a:spcAft>
              <a:buClr>
                <a:schemeClr val="dk1"/>
              </a:buClr>
              <a:buSzPts val="1100"/>
              <a:buFont typeface="Arial"/>
              <a:buNone/>
            </a:pPr>
            <a:r>
              <a:rPr lang="en"/>
              <a:t>-Pressure</a:t>
            </a:r>
            <a:endParaRPr/>
          </a:p>
          <a:p>
            <a:pPr marL="0" lvl="0" indent="0" algn="l" rtl="0">
              <a:spcBef>
                <a:spcPts val="0"/>
              </a:spcBef>
              <a:spcAft>
                <a:spcPts val="0"/>
              </a:spcAft>
              <a:buClr>
                <a:schemeClr val="dk1"/>
              </a:buClr>
              <a:buSzPts val="1100"/>
              <a:buFont typeface="Arial"/>
              <a:buNone/>
            </a:pPr>
            <a:r>
              <a:rPr lang="en"/>
              <a:t>-Magnitude of Velocity</a:t>
            </a:r>
            <a:endParaRPr/>
          </a:p>
          <a:p>
            <a:pPr marL="0" lvl="0" indent="0" algn="l" rtl="0">
              <a:spcBef>
                <a:spcPts val="0"/>
              </a:spcBef>
              <a:spcAft>
                <a:spcPts val="0"/>
              </a:spcAft>
              <a:buClr>
                <a:schemeClr val="dk1"/>
              </a:buClr>
              <a:buSzPts val="1100"/>
              <a:buFont typeface="Arial"/>
              <a:buNone/>
            </a:pPr>
            <a:r>
              <a:rPr lang="en"/>
              <a:t>-X-Component of Velocity</a:t>
            </a:r>
            <a:endParaRPr/>
          </a:p>
          <a:p>
            <a:pPr marL="0" lvl="0" indent="0" algn="l" rtl="0">
              <a:spcBef>
                <a:spcPts val="0"/>
              </a:spcBef>
              <a:spcAft>
                <a:spcPts val="0"/>
              </a:spcAft>
              <a:buClr>
                <a:schemeClr val="dk1"/>
              </a:buClr>
              <a:buSzPts val="1100"/>
              <a:buFont typeface="Arial"/>
              <a:buNone/>
            </a:pPr>
            <a:r>
              <a:rPr lang="en"/>
              <a:t>-Y-Component of Velocity</a:t>
            </a:r>
            <a:endParaRPr/>
          </a:p>
          <a:p>
            <a:pPr marL="0" lvl="0" indent="0" algn="l" rtl="0">
              <a:spcBef>
                <a:spcPts val="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Draw the vorticity</a:t>
            </a:r>
            <a:endParaRPr/>
          </a:p>
        </p:txBody>
      </p:sp>
      <p:sp>
        <p:nvSpPr>
          <p:cNvPr id="99" name="Google Shape;99;p1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rgbClr val="000000"/>
                </a:solidFill>
              </a:rPr>
              <a:t>Now click on </a:t>
            </a:r>
            <a:r>
              <a:rPr lang="en" sz="1600" i="1">
                <a:solidFill>
                  <a:srgbClr val="000000"/>
                </a:solidFill>
              </a:rPr>
              <a:t>dumps.visit:Pseudocolor-Omega</a:t>
            </a:r>
            <a:r>
              <a:rPr lang="en" sz="1600">
                <a:solidFill>
                  <a:srgbClr val="000000"/>
                </a:solidFill>
              </a:rPr>
              <a:t> and click </a:t>
            </a:r>
            <a:r>
              <a:rPr lang="en" sz="1600" i="1">
                <a:solidFill>
                  <a:srgbClr val="000000"/>
                </a:solidFill>
              </a:rPr>
              <a:t>Draw</a:t>
            </a:r>
            <a:r>
              <a:rPr lang="en" sz="1600">
                <a:solidFill>
                  <a:srgbClr val="000000"/>
                </a:solidFill>
              </a:rPr>
              <a:t>. You should now see</a:t>
            </a:r>
            <a:endParaRPr sz="1600">
              <a:solidFill>
                <a:srgbClr val="000000"/>
              </a:solidFill>
            </a:endParaRPr>
          </a:p>
          <a:p>
            <a:pPr marL="0" lvl="0" indent="0" algn="l" rtl="0">
              <a:spcBef>
                <a:spcPts val="600"/>
              </a:spcBef>
              <a:spcAft>
                <a:spcPts val="0"/>
              </a:spcAft>
              <a:buNone/>
            </a:pPr>
            <a:endParaRPr/>
          </a:p>
        </p:txBody>
      </p:sp>
      <p:pic>
        <p:nvPicPr>
          <p:cNvPr id="100" name="Google Shape;100;p18"/>
          <p:cNvPicPr preferRelativeResize="0"/>
          <p:nvPr/>
        </p:nvPicPr>
        <p:blipFill>
          <a:blip r:embed="rId3">
            <a:alphaModFix/>
          </a:blip>
          <a:stretch>
            <a:fillRect/>
          </a:stretch>
        </p:blipFill>
        <p:spPr>
          <a:xfrm>
            <a:off x="1981200" y="1717675"/>
            <a:ext cx="5181600" cy="3314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p1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vorticity</a:t>
            </a:r>
            <a:endParaRPr/>
          </a:p>
        </p:txBody>
      </p:sp>
      <p:sp>
        <p:nvSpPr>
          <p:cNvPr id="106" name="Google Shape;106;p19"/>
          <p:cNvSpPr txBox="1"/>
          <p:nvPr/>
        </p:nvSpPr>
        <p:spPr>
          <a:xfrm>
            <a:off x="375725" y="1321525"/>
            <a:ext cx="80067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To customize the vorticity color-map, double-click on </a:t>
            </a:r>
            <a:r>
              <a:rPr lang="en" sz="1600" i="1">
                <a:solidFill>
                  <a:schemeClr val="dk1"/>
                </a:solidFill>
              </a:rPr>
              <a:t>dumps.visit:Pseudocolor-Omega </a:t>
            </a:r>
            <a:r>
              <a:rPr lang="en" sz="1600">
                <a:solidFill>
                  <a:schemeClr val="dk1"/>
                </a:solidFill>
              </a:rPr>
              <a:t>. We will now change a few features in the window that opens.</a:t>
            </a:r>
            <a:endParaRPr sz="1600">
              <a:solidFill>
                <a:schemeClr val="dk1"/>
              </a:solidFill>
            </a:endParaRPr>
          </a:p>
        </p:txBody>
      </p:sp>
      <p:pic>
        <p:nvPicPr>
          <p:cNvPr id="107" name="Google Shape;107;p19"/>
          <p:cNvPicPr preferRelativeResize="0"/>
          <p:nvPr/>
        </p:nvPicPr>
        <p:blipFill>
          <a:blip r:embed="rId3">
            <a:alphaModFix/>
          </a:blip>
          <a:stretch>
            <a:fillRect/>
          </a:stretch>
        </p:blipFill>
        <p:spPr>
          <a:xfrm>
            <a:off x="1523200" y="2131100"/>
            <a:ext cx="2298775" cy="2855075"/>
          </a:xfrm>
          <a:prstGeom prst="rect">
            <a:avLst/>
          </a:prstGeom>
          <a:noFill/>
          <a:ln>
            <a:noFill/>
          </a:ln>
        </p:spPr>
      </p:pic>
      <p:sp>
        <p:nvSpPr>
          <p:cNvPr id="108" name="Google Shape;108;p19"/>
          <p:cNvSpPr txBox="1"/>
          <p:nvPr/>
        </p:nvSpPr>
        <p:spPr>
          <a:xfrm>
            <a:off x="3925650" y="2332075"/>
            <a:ext cx="50139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200"/>
              <a:t>Change Minimum and Maximum values to -5 and 5, respectively. These are just approximate values, you can change them to see how the colormap is affected. Basically it says if vorticity is ever higher than 5 or less than -5, the colormap only goes up to 5 or -5 as the highest and lowest values.</a:t>
            </a:r>
            <a:endParaRPr sz="1200"/>
          </a:p>
          <a:p>
            <a:pPr marL="0" lvl="0" indent="0" algn="l" rtl="0">
              <a:spcBef>
                <a:spcPts val="0"/>
              </a:spcBef>
              <a:spcAft>
                <a:spcPts val="0"/>
              </a:spcAft>
              <a:buNone/>
            </a:pPr>
            <a:endParaRPr sz="1200"/>
          </a:p>
        </p:txBody>
      </p:sp>
      <p:cxnSp>
        <p:nvCxnSpPr>
          <p:cNvPr id="109" name="Google Shape;109;p19"/>
          <p:cNvCxnSpPr>
            <a:stCxn id="108" idx="1"/>
          </p:cNvCxnSpPr>
          <p:nvPr/>
        </p:nvCxnSpPr>
        <p:spPr>
          <a:xfrm rot="10800000">
            <a:off x="3277950" y="2719975"/>
            <a:ext cx="647700" cy="40200"/>
          </a:xfrm>
          <a:prstGeom prst="straightConnector1">
            <a:avLst/>
          </a:prstGeom>
          <a:noFill/>
          <a:ln w="28575" cap="flat" cmpd="sng">
            <a:solidFill>
              <a:srgbClr val="FF0000"/>
            </a:solidFill>
            <a:prstDash val="solid"/>
            <a:round/>
            <a:headEnd type="none" w="med" len="med"/>
            <a:tailEnd type="triangle" w="med" len="med"/>
          </a:ln>
        </p:spPr>
      </p:cxnSp>
      <p:sp>
        <p:nvSpPr>
          <p:cNvPr id="110" name="Google Shape;110;p19"/>
          <p:cNvSpPr txBox="1"/>
          <p:nvPr/>
        </p:nvSpPr>
        <p:spPr>
          <a:xfrm>
            <a:off x="4055200" y="339445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Click the </a:t>
            </a:r>
            <a:r>
              <a:rPr lang="en" sz="1100" i="1">
                <a:solidFill>
                  <a:schemeClr val="dk1"/>
                </a:solidFill>
              </a:rPr>
              <a:t>Nodal</a:t>
            </a:r>
            <a:r>
              <a:rPr lang="en" sz="1100">
                <a:solidFill>
                  <a:schemeClr val="dk1"/>
                </a:solidFill>
              </a:rPr>
              <a:t> option – this should reduce the amount of noisiness around the boundaries a little.</a:t>
            </a:r>
            <a:endParaRPr sz="1100">
              <a:solidFill>
                <a:schemeClr val="dk1"/>
              </a:solidFill>
            </a:endParaRPr>
          </a:p>
        </p:txBody>
      </p:sp>
      <p:sp>
        <p:nvSpPr>
          <p:cNvPr id="111" name="Google Shape;111;p19"/>
          <p:cNvSpPr txBox="1"/>
          <p:nvPr/>
        </p:nvSpPr>
        <p:spPr>
          <a:xfrm>
            <a:off x="4120000" y="4120000"/>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a:solidFill>
                  <a:schemeClr val="dk1"/>
                </a:solidFill>
              </a:rPr>
              <a:t>Change the </a:t>
            </a:r>
            <a:r>
              <a:rPr lang="en" sz="1100" i="1">
                <a:solidFill>
                  <a:schemeClr val="dk1"/>
                </a:solidFill>
              </a:rPr>
              <a:t>Opacity</a:t>
            </a:r>
            <a:r>
              <a:rPr lang="en" sz="1100">
                <a:solidFill>
                  <a:schemeClr val="dk1"/>
                </a:solidFill>
              </a:rPr>
              <a:t> to 70% (or don’t change it). Reducing the </a:t>
            </a:r>
            <a:r>
              <a:rPr lang="en" sz="1100" i="1">
                <a:solidFill>
                  <a:schemeClr val="dk1"/>
                </a:solidFill>
              </a:rPr>
              <a:t>Opacity</a:t>
            </a:r>
            <a:r>
              <a:rPr lang="en" sz="1100">
                <a:solidFill>
                  <a:schemeClr val="dk1"/>
                </a:solidFill>
              </a:rPr>
              <a:t> from 100% to something less helps see the velocity vectors better.</a:t>
            </a:r>
            <a:endParaRPr sz="1100">
              <a:solidFill>
                <a:schemeClr val="dk1"/>
              </a:solidFill>
            </a:endParaRPr>
          </a:p>
        </p:txBody>
      </p:sp>
      <p:cxnSp>
        <p:nvCxnSpPr>
          <p:cNvPr id="112" name="Google Shape;112;p19"/>
          <p:cNvCxnSpPr/>
          <p:nvPr/>
        </p:nvCxnSpPr>
        <p:spPr>
          <a:xfrm rot="10800000">
            <a:off x="2474450" y="2927100"/>
            <a:ext cx="1567800" cy="816300"/>
          </a:xfrm>
          <a:prstGeom prst="straightConnector1">
            <a:avLst/>
          </a:prstGeom>
          <a:noFill/>
          <a:ln w="28575" cap="flat" cmpd="sng">
            <a:solidFill>
              <a:srgbClr val="FF0000"/>
            </a:solidFill>
            <a:prstDash val="solid"/>
            <a:round/>
            <a:headEnd type="none" w="med" len="med"/>
            <a:tailEnd type="triangle" w="med" len="med"/>
          </a:ln>
        </p:spPr>
      </p:cxnSp>
      <p:cxnSp>
        <p:nvCxnSpPr>
          <p:cNvPr id="113" name="Google Shape;113;p19"/>
          <p:cNvCxnSpPr/>
          <p:nvPr/>
        </p:nvCxnSpPr>
        <p:spPr>
          <a:xfrm rot="10800000">
            <a:off x="2617175" y="3458425"/>
            <a:ext cx="1476900" cy="11271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17"/>
        <p:cNvGrpSpPr/>
        <p:nvPr/>
      </p:nvGrpSpPr>
      <p:grpSpPr>
        <a:xfrm>
          <a:off x="0" y="0"/>
          <a:ext cx="0" cy="0"/>
          <a:chOff x="0" y="0"/>
          <a:chExt cx="0" cy="0"/>
        </a:xfrm>
      </p:grpSpPr>
      <p:sp>
        <p:nvSpPr>
          <p:cNvPr id="118" name="Google Shape;118;p2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Play the simulation</a:t>
            </a:r>
            <a:endParaRPr/>
          </a:p>
        </p:txBody>
      </p:sp>
      <p:sp>
        <p:nvSpPr>
          <p:cNvPr id="119" name="Google Shape;119;p20"/>
          <p:cNvSpPr txBox="1">
            <a:spLocks noGrp="1"/>
          </p:cNvSpPr>
          <p:nvPr>
            <p:ph type="body" idx="1"/>
          </p:nvPr>
        </p:nvSpPr>
        <p:spPr>
          <a:xfrm>
            <a:off x="509025" y="9280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Now click </a:t>
            </a:r>
            <a:r>
              <a:rPr lang="en" sz="1600" i="1"/>
              <a:t>Apply</a:t>
            </a:r>
            <a:r>
              <a:rPr lang="en" sz="1600"/>
              <a:t> and press the </a:t>
            </a:r>
            <a:r>
              <a:rPr lang="en" sz="1600" i="1"/>
              <a:t>Play</a:t>
            </a:r>
            <a:r>
              <a:rPr lang="en" sz="1600"/>
              <a:t> button and watch the simulation! You should see some vortices form behind the cone.</a:t>
            </a:r>
            <a:endParaRPr sz="1600"/>
          </a:p>
          <a:p>
            <a:pPr marL="0" lvl="0" indent="0" algn="l" rtl="0">
              <a:spcBef>
                <a:spcPts val="600"/>
              </a:spcBef>
              <a:spcAft>
                <a:spcPts val="0"/>
              </a:spcAft>
              <a:buClr>
                <a:schemeClr val="dk1"/>
              </a:buClr>
              <a:buSzPts val="1100"/>
              <a:buFont typeface="Arial"/>
              <a:buNone/>
            </a:pPr>
            <a:r>
              <a:rPr lang="en" sz="1600"/>
              <a:t>Note that the other color-maps have similar options you can do. I also want to stress that these are just general guidelines to follow, but are in no way the best chosen values to visualize the data. Play around and try things!</a:t>
            </a:r>
            <a:endParaRPr sz="1600"/>
          </a:p>
          <a:p>
            <a:pPr marL="0" lvl="0" indent="0" algn="l" rtl="0">
              <a:spcBef>
                <a:spcPts val="600"/>
              </a:spcBef>
              <a:spcAft>
                <a:spcPts val="0"/>
              </a:spcAft>
              <a:buNone/>
            </a:pPr>
            <a:endParaRPr sz="1600"/>
          </a:p>
        </p:txBody>
      </p:sp>
      <p:pic>
        <p:nvPicPr>
          <p:cNvPr id="120" name="Google Shape;120;p20"/>
          <p:cNvPicPr preferRelativeResize="0"/>
          <p:nvPr/>
        </p:nvPicPr>
        <p:blipFill>
          <a:blip r:embed="rId3">
            <a:alphaModFix/>
          </a:blip>
          <a:stretch>
            <a:fillRect/>
          </a:stretch>
        </p:blipFill>
        <p:spPr>
          <a:xfrm>
            <a:off x="2822425" y="2778125"/>
            <a:ext cx="3499149" cy="2238425"/>
          </a:xfrm>
          <a:prstGeom prst="rect">
            <a:avLst/>
          </a:prstGeom>
          <a:noFill/>
          <a:ln>
            <a:noFill/>
          </a:ln>
        </p:spPr>
      </p:pic>
      <p:cxnSp>
        <p:nvCxnSpPr>
          <p:cNvPr id="121" name="Google Shape;121;p20"/>
          <p:cNvCxnSpPr/>
          <p:nvPr/>
        </p:nvCxnSpPr>
        <p:spPr>
          <a:xfrm>
            <a:off x="2539350" y="3303750"/>
            <a:ext cx="984600" cy="272100"/>
          </a:xfrm>
          <a:prstGeom prst="straightConnector1">
            <a:avLst/>
          </a:prstGeom>
          <a:noFill/>
          <a:ln w="28575" cap="flat" cmpd="sng">
            <a:solidFill>
              <a:srgbClr val="FF0000"/>
            </a:solidFill>
            <a:prstDash val="solid"/>
            <a:round/>
            <a:headEnd type="none" w="med" len="med"/>
            <a:tailEnd type="triangle" w="med" len="med"/>
          </a:ln>
        </p:spPr>
      </p:cxnSp>
      <p:sp>
        <p:nvSpPr>
          <p:cNvPr id="122" name="Google Shape;122;p20"/>
          <p:cNvSpPr txBox="1"/>
          <p:nvPr/>
        </p:nvSpPr>
        <p:spPr>
          <a:xfrm>
            <a:off x="1620575" y="3011700"/>
            <a:ext cx="7338300" cy="856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Play button</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Add velocity vectors</a:t>
            </a:r>
            <a:endParaRPr/>
          </a:p>
        </p:txBody>
      </p:sp>
      <p:sp>
        <p:nvSpPr>
          <p:cNvPr id="128" name="Google Shape;128;p21"/>
          <p:cNvSpPr txBox="1">
            <a:spLocks noGrp="1"/>
          </p:cNvSpPr>
          <p:nvPr>
            <p:ph type="body" idx="1"/>
          </p:nvPr>
        </p:nvSpPr>
        <p:spPr>
          <a:xfrm>
            <a:off x="457200" y="95400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we will add the velocity vectors. To do this make sure the </a:t>
            </a:r>
            <a:r>
              <a:rPr lang="en" sz="1600" i="1"/>
              <a:t>Active Source</a:t>
            </a:r>
            <a:r>
              <a:rPr lang="en" sz="1600"/>
              <a:t> is </a:t>
            </a:r>
            <a:r>
              <a:rPr lang="en" sz="1600" i="1"/>
              <a:t>dumps.visit </a:t>
            </a:r>
            <a:r>
              <a:rPr lang="en" sz="1600"/>
              <a:t>and then click the </a:t>
            </a:r>
            <a:r>
              <a:rPr lang="en" sz="1600" i="1"/>
              <a:t>Add</a:t>
            </a:r>
            <a:r>
              <a:rPr lang="en" sz="1600"/>
              <a:t> button and then highlight the choice for </a:t>
            </a:r>
            <a:r>
              <a:rPr lang="en" sz="1600" i="1"/>
              <a:t>Vector</a:t>
            </a:r>
            <a:r>
              <a:rPr lang="en" sz="1600"/>
              <a:t> and click on </a:t>
            </a:r>
            <a:r>
              <a:rPr lang="en" sz="1600" i="1"/>
              <a:t>U</a:t>
            </a:r>
            <a:r>
              <a:rPr lang="en" sz="1600"/>
              <a:t>.</a:t>
            </a:r>
            <a:endParaRPr sz="1600"/>
          </a:p>
          <a:p>
            <a:pPr marL="0" lvl="0" indent="0" algn="l" rtl="0">
              <a:spcBef>
                <a:spcPts val="600"/>
              </a:spcBef>
              <a:spcAft>
                <a:spcPts val="0"/>
              </a:spcAft>
              <a:buClr>
                <a:schemeClr val="dk1"/>
              </a:buClr>
              <a:buSzPts val="1100"/>
              <a:buFont typeface="Arial"/>
              <a:buNone/>
            </a:pPr>
            <a:r>
              <a:rPr lang="en" sz="1600"/>
              <a:t>Next we will click </a:t>
            </a:r>
            <a:r>
              <a:rPr lang="en" sz="1600" i="1"/>
              <a:t>Draw</a:t>
            </a:r>
            <a:r>
              <a:rPr lang="en" sz="1600"/>
              <a:t>, like we did for </a:t>
            </a:r>
            <a:r>
              <a:rPr lang="en" sz="1600" i="1"/>
              <a:t>vorticity</a:t>
            </a:r>
            <a:r>
              <a:rPr lang="en" sz="1600"/>
              <a:t>, and we should see</a:t>
            </a:r>
            <a:endParaRPr sz="1600"/>
          </a:p>
          <a:p>
            <a:pPr marL="0" lvl="0" indent="0" algn="l" rtl="0">
              <a:spcBef>
                <a:spcPts val="600"/>
              </a:spcBef>
              <a:spcAft>
                <a:spcPts val="0"/>
              </a:spcAft>
              <a:buNone/>
            </a:pPr>
            <a:endParaRPr/>
          </a:p>
        </p:txBody>
      </p:sp>
      <p:pic>
        <p:nvPicPr>
          <p:cNvPr id="129" name="Google Shape;129;p21"/>
          <p:cNvPicPr preferRelativeResize="0"/>
          <p:nvPr/>
        </p:nvPicPr>
        <p:blipFill>
          <a:blip r:embed="rId3">
            <a:alphaModFix/>
          </a:blip>
          <a:stretch>
            <a:fillRect/>
          </a:stretch>
        </p:blipFill>
        <p:spPr>
          <a:xfrm>
            <a:off x="1346100" y="2290475"/>
            <a:ext cx="1943100" cy="2743200"/>
          </a:xfrm>
          <a:prstGeom prst="rect">
            <a:avLst/>
          </a:prstGeom>
          <a:noFill/>
          <a:ln>
            <a:noFill/>
          </a:ln>
        </p:spPr>
      </p:pic>
      <p:pic>
        <p:nvPicPr>
          <p:cNvPr id="130" name="Google Shape;130;p21"/>
          <p:cNvPicPr preferRelativeResize="0"/>
          <p:nvPr/>
        </p:nvPicPr>
        <p:blipFill>
          <a:blip r:embed="rId4">
            <a:alphaModFix/>
          </a:blip>
          <a:stretch>
            <a:fillRect/>
          </a:stretch>
        </p:blipFill>
        <p:spPr>
          <a:xfrm>
            <a:off x="3509100" y="2488950"/>
            <a:ext cx="3467100" cy="21907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2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36" name="Google Shape;136;p2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we will have to customize the velocity vectors to see them. Double-click on </a:t>
            </a:r>
            <a:r>
              <a:rPr lang="en" sz="1600" i="1"/>
              <a:t>dumps.visit:Vector-U</a:t>
            </a:r>
            <a:r>
              <a:rPr lang="en" sz="1600"/>
              <a:t> and a dialog box will open. First we want to click </a:t>
            </a:r>
            <a:r>
              <a:rPr lang="en" sz="1600" i="1"/>
              <a:t>uniformly located throughout mesh </a:t>
            </a:r>
            <a:r>
              <a:rPr lang="en" sz="1600"/>
              <a:t>add more vectors onto our mesh by clicking </a:t>
            </a:r>
            <a:r>
              <a:rPr lang="en" sz="1600" i="1"/>
              <a:t>fixed number</a:t>
            </a:r>
            <a:r>
              <a:rPr lang="en" sz="1600"/>
              <a:t> and typing a number, for example 12000 into the box.</a:t>
            </a:r>
            <a:endParaRPr sz="1600"/>
          </a:p>
          <a:p>
            <a:pPr marL="0" lvl="0" indent="0" algn="l" rtl="0">
              <a:spcBef>
                <a:spcPts val="600"/>
              </a:spcBef>
              <a:spcAft>
                <a:spcPts val="0"/>
              </a:spcAft>
              <a:buNone/>
            </a:pPr>
            <a:endParaRPr sz="1600"/>
          </a:p>
        </p:txBody>
      </p:sp>
      <p:pic>
        <p:nvPicPr>
          <p:cNvPr id="137" name="Google Shape;137;p22"/>
          <p:cNvPicPr preferRelativeResize="0"/>
          <p:nvPr/>
        </p:nvPicPr>
        <p:blipFill>
          <a:blip r:embed="rId3">
            <a:alphaModFix/>
          </a:blip>
          <a:stretch>
            <a:fillRect/>
          </a:stretch>
        </p:blipFill>
        <p:spPr>
          <a:xfrm>
            <a:off x="2824675" y="2500075"/>
            <a:ext cx="3264600" cy="2425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1"/>
        <p:cNvGrpSpPr/>
        <p:nvPr/>
      </p:nvGrpSpPr>
      <p:grpSpPr>
        <a:xfrm>
          <a:off x="0" y="0"/>
          <a:ext cx="0" cy="0"/>
          <a:chOff x="0" y="0"/>
          <a:chExt cx="0" cy="0"/>
        </a:xfrm>
      </p:grpSpPr>
      <p:sp>
        <p:nvSpPr>
          <p:cNvPr id="142" name="Google Shape;142;p2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43" name="Google Shape;143;p23"/>
          <p:cNvSpPr txBox="1">
            <a:spLocks noGrp="1"/>
          </p:cNvSpPr>
          <p:nvPr>
            <p:ph type="body" idx="1"/>
          </p:nvPr>
        </p:nvSpPr>
        <p:spPr>
          <a:xfrm>
            <a:off x="457200" y="10633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click the tab that reads </a:t>
            </a:r>
            <a:r>
              <a:rPr lang="en" sz="1600" i="1"/>
              <a:t>Form</a:t>
            </a:r>
            <a:r>
              <a:rPr lang="en" sz="1600"/>
              <a:t> at the top of the dialog box. Inside this tab, you can customized how the vectors are scaled, whether they are scaled at each time-step by the largest velocity or kept constant. Right now I have chosen </a:t>
            </a:r>
            <a:r>
              <a:rPr lang="en" sz="1600">
                <a:highlight>
                  <a:srgbClr val="FFFF00"/>
                </a:highlight>
              </a:rPr>
              <a:t>to Scale as 0.4</a:t>
            </a:r>
            <a:r>
              <a:rPr lang="en" sz="1600"/>
              <a:t> (do not use 0.04) and to </a:t>
            </a:r>
            <a:r>
              <a:rPr lang="en" sz="1600" i="1"/>
              <a:t>Scale by Magnitude</a:t>
            </a:r>
            <a:r>
              <a:rPr lang="en" sz="1600"/>
              <a:t>. The other thing I changed was the </a:t>
            </a:r>
            <a:r>
              <a:rPr lang="en" sz="1600" i="1"/>
              <a:t>Draw head Size</a:t>
            </a:r>
            <a:r>
              <a:rPr lang="en" sz="1600"/>
              <a:t> to 0.45.</a:t>
            </a:r>
            <a:endParaRPr sz="1600"/>
          </a:p>
          <a:p>
            <a:pPr marL="0" lvl="0" indent="0" algn="l" rtl="0">
              <a:spcBef>
                <a:spcPts val="600"/>
              </a:spcBef>
              <a:spcAft>
                <a:spcPts val="0"/>
              </a:spcAft>
              <a:buNone/>
            </a:pPr>
            <a:endParaRPr sz="1600"/>
          </a:p>
        </p:txBody>
      </p:sp>
      <p:pic>
        <p:nvPicPr>
          <p:cNvPr id="144" name="Google Shape;144;p23"/>
          <p:cNvPicPr preferRelativeResize="0"/>
          <p:nvPr/>
        </p:nvPicPr>
        <p:blipFill>
          <a:blip r:embed="rId3">
            <a:alphaModFix/>
          </a:blip>
          <a:stretch>
            <a:fillRect/>
          </a:stretch>
        </p:blipFill>
        <p:spPr>
          <a:xfrm>
            <a:off x="3086100" y="2325513"/>
            <a:ext cx="2971800" cy="26003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Customize vectors</a:t>
            </a:r>
            <a:endParaRPr/>
          </a:p>
        </p:txBody>
      </p:sp>
      <p:sp>
        <p:nvSpPr>
          <p:cNvPr id="150" name="Google Shape;150;p2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Next tab over to </a:t>
            </a:r>
            <a:r>
              <a:rPr lang="en" sz="1600" i="1"/>
              <a:t>Rendering</a:t>
            </a:r>
            <a:r>
              <a:rPr lang="en" sz="1600"/>
              <a:t> and click </a:t>
            </a:r>
            <a:r>
              <a:rPr lang="en" sz="1600" i="1"/>
              <a:t>Constant </a:t>
            </a:r>
            <a:r>
              <a:rPr lang="en" sz="1600"/>
              <a:t>under the </a:t>
            </a:r>
            <a:r>
              <a:rPr lang="en" sz="1600" i="1"/>
              <a:t>Color </a:t>
            </a:r>
            <a:r>
              <a:rPr lang="en" sz="1600"/>
              <a:t>section. This will keep all the vectors the same color – this sometimes comes in handy when doing color-plots so the different colors from the color-plots and velocity vectors don’t get confusing or too distracting.</a:t>
            </a:r>
            <a:endParaRPr sz="1600"/>
          </a:p>
          <a:p>
            <a:pPr marL="0" lvl="0" indent="0" algn="l" rtl="0">
              <a:spcBef>
                <a:spcPts val="600"/>
              </a:spcBef>
              <a:spcAft>
                <a:spcPts val="0"/>
              </a:spcAft>
              <a:buNone/>
            </a:pPr>
            <a:endParaRPr sz="1600"/>
          </a:p>
        </p:txBody>
      </p:sp>
      <p:pic>
        <p:nvPicPr>
          <p:cNvPr id="151" name="Google Shape;151;p24"/>
          <p:cNvPicPr preferRelativeResize="0"/>
          <p:nvPr/>
        </p:nvPicPr>
        <p:blipFill>
          <a:blip r:embed="rId3">
            <a:alphaModFix/>
          </a:blip>
          <a:stretch>
            <a:fillRect/>
          </a:stretch>
        </p:blipFill>
        <p:spPr>
          <a:xfrm>
            <a:off x="3190313" y="2382663"/>
            <a:ext cx="2867025" cy="2543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result</a:t>
            </a:r>
            <a:endParaRPr/>
          </a:p>
        </p:txBody>
      </p:sp>
      <p:sp>
        <p:nvSpPr>
          <p:cNvPr id="157" name="Google Shape;157;p2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After you click </a:t>
            </a:r>
            <a:r>
              <a:rPr lang="en" sz="1600" i="1"/>
              <a:t>Apply</a:t>
            </a:r>
            <a:r>
              <a:rPr lang="en" sz="1600"/>
              <a:t>, you should see</a:t>
            </a:r>
            <a:endParaRPr sz="1600"/>
          </a:p>
          <a:p>
            <a:pPr marL="0" lvl="0" indent="0" algn="l" rtl="0">
              <a:spcBef>
                <a:spcPts val="600"/>
              </a:spcBef>
              <a:spcAft>
                <a:spcPts val="0"/>
              </a:spcAft>
              <a:buNone/>
            </a:pPr>
            <a:endParaRPr sz="1600"/>
          </a:p>
        </p:txBody>
      </p:sp>
      <p:pic>
        <p:nvPicPr>
          <p:cNvPr id="158" name="Google Shape;158;p25"/>
          <p:cNvPicPr preferRelativeResize="0"/>
          <p:nvPr/>
        </p:nvPicPr>
        <p:blipFill>
          <a:blip r:embed="rId3">
            <a:alphaModFix/>
          </a:blip>
          <a:stretch>
            <a:fillRect/>
          </a:stretch>
        </p:blipFill>
        <p:spPr>
          <a:xfrm>
            <a:off x="2205025" y="1887363"/>
            <a:ext cx="4733925" cy="30384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Zoom</a:t>
            </a:r>
            <a:endParaRPr/>
          </a:p>
        </p:txBody>
      </p:sp>
      <p:sp>
        <p:nvSpPr>
          <p:cNvPr id="164" name="Google Shape;164;p2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600"/>
              <a:t>You can now watch the simulation by clicking </a:t>
            </a:r>
            <a:r>
              <a:rPr lang="en" sz="1600" i="1"/>
              <a:t>Play</a:t>
            </a:r>
            <a:r>
              <a:rPr lang="en" sz="1600"/>
              <a:t>. There are many other customizations you can do – this is just the beginning! One thing you might want to do is zoom into the region of interest – namely that around the channel and cavities. To do this just click on the </a:t>
            </a:r>
            <a:r>
              <a:rPr lang="en" sz="1600" i="1"/>
              <a:t>magnifying glass</a:t>
            </a:r>
            <a:r>
              <a:rPr lang="en" sz="1600"/>
              <a:t> above the geometry window and drag a box over the region of interest and it will zoom in!</a:t>
            </a:r>
            <a:endParaRPr sz="1600"/>
          </a:p>
          <a:p>
            <a:pPr marL="0" lvl="0" indent="0" algn="l" rtl="0">
              <a:spcBef>
                <a:spcPts val="600"/>
              </a:spcBef>
              <a:spcAft>
                <a:spcPts val="0"/>
              </a:spcAft>
              <a:buNone/>
            </a:pPr>
            <a:endParaRPr sz="1600"/>
          </a:p>
        </p:txBody>
      </p:sp>
      <p:pic>
        <p:nvPicPr>
          <p:cNvPr id="165" name="Google Shape;165;p26"/>
          <p:cNvPicPr preferRelativeResize="0"/>
          <p:nvPr/>
        </p:nvPicPr>
        <p:blipFill>
          <a:blip r:embed="rId3">
            <a:alphaModFix/>
          </a:blip>
          <a:stretch>
            <a:fillRect/>
          </a:stretch>
        </p:blipFill>
        <p:spPr>
          <a:xfrm>
            <a:off x="2171700" y="3278513"/>
            <a:ext cx="4800600" cy="1514475"/>
          </a:xfrm>
          <a:prstGeom prst="rect">
            <a:avLst/>
          </a:prstGeom>
          <a:noFill/>
          <a:ln>
            <a:noFill/>
          </a:ln>
        </p:spPr>
      </p:pic>
      <p:sp>
        <p:nvSpPr>
          <p:cNvPr id="166" name="Google Shape;166;p26"/>
          <p:cNvSpPr txBox="1"/>
          <p:nvPr/>
        </p:nvSpPr>
        <p:spPr>
          <a:xfrm>
            <a:off x="272075" y="2811425"/>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To zoom into a region you drag your cursor around</a:t>
            </a:r>
            <a:endParaRPr/>
          </a:p>
        </p:txBody>
      </p:sp>
      <p:sp>
        <p:nvSpPr>
          <p:cNvPr id="167" name="Google Shape;167;p26"/>
          <p:cNvSpPr txBox="1"/>
          <p:nvPr/>
        </p:nvSpPr>
        <p:spPr>
          <a:xfrm>
            <a:off x="5686800" y="2613513"/>
            <a:ext cx="3000000" cy="3000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Reset the window back to the default window</a:t>
            </a:r>
            <a:endParaRPr/>
          </a:p>
        </p:txBody>
      </p:sp>
      <p:cxnSp>
        <p:nvCxnSpPr>
          <p:cNvPr id="168" name="Google Shape;168;p26"/>
          <p:cNvCxnSpPr/>
          <p:nvPr/>
        </p:nvCxnSpPr>
        <p:spPr>
          <a:xfrm>
            <a:off x="2034075" y="3213075"/>
            <a:ext cx="557100" cy="505200"/>
          </a:xfrm>
          <a:prstGeom prst="straightConnector1">
            <a:avLst/>
          </a:prstGeom>
          <a:noFill/>
          <a:ln w="28575" cap="flat" cmpd="sng">
            <a:solidFill>
              <a:srgbClr val="FF0000"/>
            </a:solidFill>
            <a:prstDash val="solid"/>
            <a:round/>
            <a:headEnd type="none" w="med" len="med"/>
            <a:tailEnd type="triangle" w="med" len="med"/>
          </a:ln>
        </p:spPr>
      </p:cxnSp>
      <p:cxnSp>
        <p:nvCxnSpPr>
          <p:cNvPr id="169" name="Google Shape;169;p26"/>
          <p:cNvCxnSpPr/>
          <p:nvPr/>
        </p:nvCxnSpPr>
        <p:spPr>
          <a:xfrm flipH="1">
            <a:off x="5545025" y="2889175"/>
            <a:ext cx="181500" cy="621900"/>
          </a:xfrm>
          <a:prstGeom prst="straightConnector1">
            <a:avLst/>
          </a:prstGeom>
          <a:noFill/>
          <a:ln w="28575" cap="flat" cmpd="sng">
            <a:solidFill>
              <a:srgbClr val="FF0000"/>
            </a:solidFill>
            <a:prstDash val="solid"/>
            <a:round/>
            <a:headEnd type="none" w="med" len="med"/>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Make a movie</a:t>
            </a:r>
            <a:endParaRPr/>
          </a:p>
        </p:txBody>
      </p:sp>
      <p:sp>
        <p:nvSpPr>
          <p:cNvPr id="175" name="Google Shape;175;p2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t>Let’s now talk about saving a movie. To do this go to the </a:t>
            </a:r>
            <a:r>
              <a:rPr lang="en" sz="1600" i="1"/>
              <a:t>File </a:t>
            </a:r>
            <a:r>
              <a:rPr lang="en" sz="1600"/>
              <a:t>and click on </a:t>
            </a:r>
            <a:r>
              <a:rPr lang="en" sz="1600" i="1"/>
              <a:t>Save Movie. </a:t>
            </a:r>
            <a:r>
              <a:rPr lang="en" sz="1600"/>
              <a:t>This will bring up another dialog box. At the first screen you will click  </a:t>
            </a:r>
            <a:r>
              <a:rPr lang="en" sz="1600" i="1"/>
              <a:t>New simple movie </a:t>
            </a:r>
            <a:r>
              <a:rPr lang="en" sz="1600"/>
              <a:t>and then click </a:t>
            </a:r>
            <a:r>
              <a:rPr lang="en" sz="1600" i="1"/>
              <a:t>Continue.</a:t>
            </a:r>
            <a:endParaRPr sz="1600" i="1"/>
          </a:p>
          <a:p>
            <a:pPr marL="0" lvl="0" indent="0" algn="l" rtl="0">
              <a:spcBef>
                <a:spcPts val="600"/>
              </a:spcBef>
              <a:spcAft>
                <a:spcPts val="0"/>
              </a:spcAft>
              <a:buClr>
                <a:schemeClr val="dk1"/>
              </a:buClr>
              <a:buSzPts val="1100"/>
              <a:buFont typeface="Arial"/>
              <a:buNone/>
            </a:pPr>
            <a:endParaRPr sz="1600" i="1"/>
          </a:p>
          <a:p>
            <a:pPr marL="0" lvl="0" indent="0" algn="l" rtl="0">
              <a:spcBef>
                <a:spcPts val="600"/>
              </a:spcBef>
              <a:spcAft>
                <a:spcPts val="0"/>
              </a:spcAft>
              <a:buNone/>
            </a:pPr>
            <a:endParaRPr sz="1600"/>
          </a:p>
        </p:txBody>
      </p:sp>
      <p:pic>
        <p:nvPicPr>
          <p:cNvPr id="176" name="Google Shape;176;p27"/>
          <p:cNvPicPr preferRelativeResize="0"/>
          <p:nvPr/>
        </p:nvPicPr>
        <p:blipFill>
          <a:blip r:embed="rId3">
            <a:alphaModFix/>
          </a:blip>
          <a:stretch>
            <a:fillRect/>
          </a:stretch>
        </p:blipFill>
        <p:spPr>
          <a:xfrm>
            <a:off x="2083113" y="2269400"/>
            <a:ext cx="4848225" cy="2781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8"/>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Make a movie</a:t>
            </a:r>
            <a:endParaRPr/>
          </a:p>
        </p:txBody>
      </p:sp>
      <p:sp>
        <p:nvSpPr>
          <p:cNvPr id="182" name="Google Shape;182;p28"/>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sz="1400"/>
              <a:t>At the next screen we will choose the format to be </a:t>
            </a:r>
            <a:r>
              <a:rPr lang="en" sz="1400" i="1"/>
              <a:t>MPEG Movie</a:t>
            </a:r>
            <a:r>
              <a:rPr lang="en" sz="1400"/>
              <a:t> and then click the </a:t>
            </a:r>
            <a:r>
              <a:rPr lang="en" sz="1400" i="1"/>
              <a:t>Right </a:t>
            </a:r>
            <a:r>
              <a:rPr lang="en" sz="1400"/>
              <a:t>arrow, -&gt; , and then click </a:t>
            </a:r>
            <a:r>
              <a:rPr lang="en" sz="1400" i="1"/>
              <a:t>Continue.</a:t>
            </a:r>
            <a:endParaRPr sz="1400" i="1"/>
          </a:p>
          <a:p>
            <a:pPr marL="0" lvl="0" indent="0" algn="l" rtl="0">
              <a:spcBef>
                <a:spcPts val="600"/>
              </a:spcBef>
              <a:spcAft>
                <a:spcPts val="0"/>
              </a:spcAft>
              <a:buNone/>
            </a:pPr>
            <a:endParaRPr sz="1400"/>
          </a:p>
        </p:txBody>
      </p:sp>
      <p:pic>
        <p:nvPicPr>
          <p:cNvPr id="183" name="Google Shape;183;p28"/>
          <p:cNvPicPr preferRelativeResize="0"/>
          <p:nvPr/>
        </p:nvPicPr>
        <p:blipFill>
          <a:blip r:embed="rId3">
            <a:alphaModFix/>
          </a:blip>
          <a:stretch>
            <a:fillRect/>
          </a:stretch>
        </p:blipFill>
        <p:spPr>
          <a:xfrm>
            <a:off x="2738425" y="2056163"/>
            <a:ext cx="3667125" cy="2352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29"/>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Save the movie</a:t>
            </a:r>
            <a:endParaRPr/>
          </a:p>
        </p:txBody>
      </p:sp>
      <p:sp>
        <p:nvSpPr>
          <p:cNvPr id="189" name="Google Shape;189;p29"/>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1600">
                <a:latin typeface="Cambria"/>
                <a:ea typeface="Cambria"/>
                <a:cs typeface="Cambria"/>
                <a:sym typeface="Cambria"/>
              </a:rPr>
              <a:t>Now at the next screen, we have the options of telling it to begin saving the movie at a specific frame, ending at a specific frame, picking the frame rate, and the frame stride (if you want to make a movie out of every other frame, every 5, etc)</a:t>
            </a:r>
            <a:endParaRPr sz="1600">
              <a:latin typeface="Cambria"/>
              <a:ea typeface="Cambria"/>
              <a:cs typeface="Cambria"/>
              <a:sym typeface="Cambria"/>
            </a:endParaRPr>
          </a:p>
          <a:p>
            <a:pPr marL="0" lvl="0" indent="0" algn="l" rtl="0">
              <a:spcBef>
                <a:spcPts val="600"/>
              </a:spcBef>
              <a:spcAft>
                <a:spcPts val="0"/>
              </a:spcAft>
              <a:buClr>
                <a:schemeClr val="dk1"/>
              </a:buClr>
              <a:buSzPts val="1100"/>
              <a:buFont typeface="Arial"/>
              <a:buNone/>
            </a:pPr>
            <a:r>
              <a:rPr lang="en" sz="1600"/>
              <a:t>Next we can choose what folder the movie gets saved to, as well as you can title the movie.  As an example, the movie was saved in the </a:t>
            </a:r>
            <a:r>
              <a:rPr lang="en" sz="1600" i="1"/>
              <a:t>IBAMR_ON_DOGWOOD</a:t>
            </a:r>
            <a:r>
              <a:rPr lang="en" sz="1600"/>
              <a:t> folder on the Desktop, and was cleverly titled </a:t>
            </a:r>
            <a:r>
              <a:rPr lang="en" sz="1600" i="1"/>
              <a:t>FIRST_SIMULATION_MOVIE.</a:t>
            </a:r>
            <a:endParaRPr sz="1600" i="1"/>
          </a:p>
          <a:p>
            <a:pPr marL="0" lvl="0" indent="0" algn="l" rtl="0">
              <a:spcBef>
                <a:spcPts val="600"/>
              </a:spcBef>
              <a:spcAft>
                <a:spcPts val="0"/>
              </a:spcAft>
              <a:buNone/>
            </a:pPr>
            <a:endParaRPr sz="1600">
              <a:latin typeface="Cambria"/>
              <a:ea typeface="Cambria"/>
              <a:cs typeface="Cambria"/>
              <a:sym typeface="Cambria"/>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30"/>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200"/>
              <a:t>Suggestions to improve Visit-vorticity</a:t>
            </a:r>
            <a:endParaRPr sz="3200"/>
          </a:p>
        </p:txBody>
      </p:sp>
      <p:sp>
        <p:nvSpPr>
          <p:cNvPr id="195" name="Google Shape;195;p30"/>
          <p:cNvSpPr txBox="1">
            <a:spLocks noGrp="1"/>
          </p:cNvSpPr>
          <p:nvPr>
            <p:ph type="body" idx="1"/>
          </p:nvPr>
        </p:nvSpPr>
        <p:spPr>
          <a:xfrm>
            <a:off x="405375" y="1063375"/>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Hide the grid.</a:t>
            </a:r>
            <a:endParaRPr sz="2400"/>
          </a:p>
          <a:p>
            <a:pPr marL="0" lvl="0" indent="0" algn="l" rtl="0">
              <a:spcBef>
                <a:spcPts val="600"/>
              </a:spcBef>
              <a:spcAft>
                <a:spcPts val="0"/>
              </a:spcAft>
              <a:buNone/>
            </a:pPr>
            <a:r>
              <a:rPr lang="en" sz="2400"/>
              <a:t>Add pseudocolor, omega.</a:t>
            </a:r>
            <a:endParaRPr sz="2400"/>
          </a:p>
          <a:p>
            <a:pPr marL="0" lvl="0" indent="0" algn="l" rtl="0">
              <a:spcBef>
                <a:spcPts val="600"/>
              </a:spcBef>
              <a:spcAft>
                <a:spcPts val="0"/>
              </a:spcAft>
              <a:buNone/>
            </a:pPr>
            <a:r>
              <a:rPr lang="en" sz="2400"/>
              <a:t>Look at colorplot and pick min/max.</a:t>
            </a:r>
            <a:endParaRPr sz="2400"/>
          </a:p>
          <a:p>
            <a:pPr marL="0" lvl="0" indent="0" algn="l" rtl="0">
              <a:spcBef>
                <a:spcPts val="600"/>
              </a:spcBef>
              <a:spcAft>
                <a:spcPts val="0"/>
              </a:spcAft>
              <a:buNone/>
            </a:pPr>
            <a:r>
              <a:rPr lang="en" sz="2400"/>
              <a:t>Double click pseudocolor, and define your own min/max.</a:t>
            </a:r>
            <a:endParaRPr sz="2400"/>
          </a:p>
          <a:p>
            <a:pPr marL="0" lvl="0" indent="0" algn="l" rtl="0">
              <a:spcBef>
                <a:spcPts val="600"/>
              </a:spcBef>
              <a:spcAft>
                <a:spcPts val="0"/>
              </a:spcAft>
              <a:buNone/>
            </a:pPr>
            <a:r>
              <a:rPr lang="en" sz="2400"/>
              <a:t>Try 25% of original min/max.</a:t>
            </a:r>
            <a:endParaRPr sz="2400"/>
          </a:p>
          <a:p>
            <a:pPr marL="0" lvl="0" indent="0" algn="l" rtl="0">
              <a:spcBef>
                <a:spcPts val="600"/>
              </a:spcBef>
              <a:spcAft>
                <a:spcPts val="0"/>
              </a:spcAft>
              <a:buNone/>
            </a:pPr>
            <a:r>
              <a:rPr lang="en" sz="2400"/>
              <a:t>Underneath, pick Centering: Nodal to smooth</a:t>
            </a:r>
            <a:endParaRPr sz="2400"/>
          </a:p>
          <a:p>
            <a:pPr marL="0" lvl="0" indent="0" algn="l" rtl="0">
              <a:spcBef>
                <a:spcPts val="600"/>
              </a:spcBef>
              <a:spcAft>
                <a:spcPts val="0"/>
              </a:spcAft>
              <a:buNone/>
            </a:pPr>
            <a:endParaRPr sz="24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sp>
        <p:nvSpPr>
          <p:cNvPr id="200" name="Google Shape;200;p31"/>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Velocity vectors</a:t>
            </a:r>
            <a:endParaRPr/>
          </a:p>
        </p:txBody>
      </p:sp>
      <p:sp>
        <p:nvSpPr>
          <p:cNvPr id="201" name="Google Shape;201;p31"/>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Select Vector: U</a:t>
            </a:r>
            <a:endParaRPr sz="2400"/>
          </a:p>
          <a:p>
            <a:pPr marL="0" lvl="0" indent="0" algn="l" rtl="0">
              <a:spcBef>
                <a:spcPts val="600"/>
              </a:spcBef>
              <a:spcAft>
                <a:spcPts val="0"/>
              </a:spcAft>
              <a:buNone/>
            </a:pPr>
            <a:r>
              <a:rPr lang="en" sz="2400"/>
              <a:t>Double click, uniformly locate throughout the mesh.</a:t>
            </a:r>
            <a:endParaRPr sz="2400"/>
          </a:p>
          <a:p>
            <a:pPr marL="0" lvl="0" indent="0" algn="l" rtl="0">
              <a:spcBef>
                <a:spcPts val="600"/>
              </a:spcBef>
              <a:spcAft>
                <a:spcPts val="0"/>
              </a:spcAft>
              <a:buNone/>
            </a:pPr>
            <a:r>
              <a:rPr lang="en" sz="2400"/>
              <a:t>Vector amount, set to ~8000.</a:t>
            </a:r>
            <a:endParaRPr sz="2400"/>
          </a:p>
          <a:p>
            <a:pPr marL="0" lvl="0" indent="0" algn="l" rtl="0">
              <a:spcBef>
                <a:spcPts val="600"/>
              </a:spcBef>
              <a:spcAft>
                <a:spcPts val="0"/>
              </a:spcAft>
              <a:buNone/>
            </a:pPr>
            <a:r>
              <a:rPr lang="en" sz="2400"/>
              <a:t>Rendering tab - Select constant</a:t>
            </a:r>
            <a:endParaRPr sz="2400"/>
          </a:p>
          <a:p>
            <a:pPr marL="0" lvl="0" indent="0" algn="l" rtl="0">
              <a:spcBef>
                <a:spcPts val="600"/>
              </a:spcBef>
              <a:spcAft>
                <a:spcPts val="0"/>
              </a:spcAft>
              <a:buNone/>
            </a:pPr>
            <a:r>
              <a:rPr lang="en" sz="2400"/>
              <a:t>Limits - Set from 0 to highest magnitude.</a:t>
            </a:r>
            <a:endParaRPr sz="2400"/>
          </a:p>
          <a:p>
            <a:pPr marL="0" lvl="0" indent="0" algn="l" rtl="0">
              <a:spcBef>
                <a:spcPts val="600"/>
              </a:spcBef>
              <a:spcAft>
                <a:spcPts val="0"/>
              </a:spcAft>
              <a:buNone/>
            </a:pPr>
            <a:r>
              <a:rPr lang="en" sz="2400"/>
              <a:t>Form - can rescale arrows by changing scale.</a:t>
            </a:r>
            <a:endParaRPr sz="240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32"/>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The boundary</a:t>
            </a:r>
            <a:endParaRPr/>
          </a:p>
        </p:txBody>
      </p:sp>
      <p:sp>
        <p:nvSpPr>
          <p:cNvPr id="207" name="Google Shape;207;p32"/>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When drawing the boundary, usually you want to plot the vertices.</a:t>
            </a:r>
            <a:endParaRPr/>
          </a:p>
          <a:p>
            <a:pPr marL="0" lvl="0" indent="0" algn="l" rtl="0">
              <a:spcBef>
                <a:spcPts val="600"/>
              </a:spcBef>
              <a:spcAft>
                <a:spcPts val="0"/>
              </a:spcAft>
              <a:buNone/>
            </a:pPr>
            <a:r>
              <a:rPr lang="en"/>
              <a:t>Increase the pixel size to make lines larger.</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Google Shape;212;p33"/>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3000"/>
              <a:t>Cleaning up the figures</a:t>
            </a:r>
            <a:endParaRPr/>
          </a:p>
        </p:txBody>
      </p:sp>
      <p:sp>
        <p:nvSpPr>
          <p:cNvPr id="213" name="Google Shape;213;p33"/>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Double click on each item.</a:t>
            </a:r>
            <a:endParaRPr/>
          </a:p>
          <a:p>
            <a:pPr marL="0" lvl="0" indent="0" algn="l" rtl="0">
              <a:spcBef>
                <a:spcPts val="600"/>
              </a:spcBef>
              <a:spcAft>
                <a:spcPts val="0"/>
              </a:spcAft>
              <a:buNone/>
            </a:pPr>
            <a:r>
              <a:rPr lang="en"/>
              <a:t>Unclick legend if you don’t want.</a:t>
            </a:r>
            <a:endParaRPr/>
          </a:p>
          <a:p>
            <a:pPr marL="0" lvl="0" indent="0" algn="l" rtl="0">
              <a:spcBef>
                <a:spcPts val="600"/>
              </a:spcBef>
              <a:spcAft>
                <a:spcPts val="0"/>
              </a:spcAft>
              <a:buNone/>
            </a:pPr>
            <a:r>
              <a:rPr lang="en"/>
              <a:t>Go to controls -&gt; annotation</a:t>
            </a:r>
            <a:endParaRPr/>
          </a:p>
          <a:p>
            <a:pPr marL="0" lvl="0" indent="0" algn="l" rtl="0">
              <a:spcBef>
                <a:spcPts val="600"/>
              </a:spcBef>
              <a:spcAft>
                <a:spcPts val="0"/>
              </a:spcAft>
              <a:buNone/>
            </a:pPr>
            <a:r>
              <a:rPr lang="en"/>
              <a:t>Unclick Database</a:t>
            </a:r>
            <a:endParaRPr/>
          </a:p>
          <a:p>
            <a:pPr marL="0" lvl="0" indent="0" algn="l" rtl="0">
              <a:spcBef>
                <a:spcPts val="600"/>
              </a:spcBef>
              <a:spcAft>
                <a:spcPts val="0"/>
              </a:spcAft>
              <a:buNone/>
            </a:pPr>
            <a:r>
              <a:rPr lang="en"/>
              <a:t>Unclick User information</a:t>
            </a:r>
            <a:endParaRPr/>
          </a:p>
          <a:p>
            <a:pPr marL="0" lvl="0" indent="0" algn="l" rtl="0">
              <a:spcBef>
                <a:spcPts val="60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4"/>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Axes</a:t>
            </a:r>
            <a:endParaRPr/>
          </a:p>
        </p:txBody>
      </p:sp>
      <p:sp>
        <p:nvSpPr>
          <p:cNvPr id="219" name="Google Shape;219;p34"/>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Go to 2D or 3D to modify axes</a:t>
            </a:r>
            <a:endParaRPr/>
          </a:p>
          <a:p>
            <a:pPr marL="0" lvl="0" indent="0" algn="l" rtl="0">
              <a:spcBef>
                <a:spcPts val="600"/>
              </a:spcBef>
              <a:spcAft>
                <a:spcPts val="0"/>
              </a:spcAft>
              <a:buNone/>
            </a:pPr>
            <a:r>
              <a:rPr lang="en"/>
              <a:t>You can make custom titles and change font style and size</a:t>
            </a:r>
            <a:endParaRPr/>
          </a:p>
          <a:p>
            <a:pPr marL="0" lvl="0" indent="0" algn="l" rtl="0">
              <a:spcBef>
                <a:spcPts val="600"/>
              </a:spcBef>
              <a:spcAft>
                <a:spcPts val="0"/>
              </a:spcAft>
              <a:buNone/>
            </a:pPr>
            <a:r>
              <a:rPr lang="en"/>
              <a:t>You can change or remove numbers along the axis.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sp>
        <p:nvSpPr>
          <p:cNvPr id="224" name="Google Shape;224;p35"/>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Modify legends</a:t>
            </a:r>
            <a:endParaRPr/>
          </a:p>
        </p:txBody>
      </p:sp>
      <p:sp>
        <p:nvSpPr>
          <p:cNvPr id="225" name="Google Shape;225;p35"/>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sz="2400"/>
              <a:t>Go to the objects tab.</a:t>
            </a:r>
            <a:endParaRPr sz="2400"/>
          </a:p>
          <a:p>
            <a:pPr marL="0" lvl="0" indent="0" algn="l" rtl="0">
              <a:spcBef>
                <a:spcPts val="600"/>
              </a:spcBef>
              <a:spcAft>
                <a:spcPts val="0"/>
              </a:spcAft>
              <a:buNone/>
            </a:pPr>
            <a:r>
              <a:rPr lang="en" sz="2400"/>
              <a:t>Click the legend you want to modify</a:t>
            </a:r>
            <a:endParaRPr sz="2400"/>
          </a:p>
          <a:p>
            <a:pPr marL="0" lvl="0" indent="0" algn="l" rtl="0">
              <a:spcBef>
                <a:spcPts val="600"/>
              </a:spcBef>
              <a:spcAft>
                <a:spcPts val="0"/>
              </a:spcAft>
              <a:buNone/>
            </a:pPr>
            <a:r>
              <a:rPr lang="en" sz="2400"/>
              <a:t>Go to appearance, and unclick draw title and draw min/max.</a:t>
            </a:r>
            <a:endParaRPr sz="2400"/>
          </a:p>
          <a:p>
            <a:pPr marL="0" lvl="0" indent="0" algn="l" rtl="0">
              <a:spcBef>
                <a:spcPts val="600"/>
              </a:spcBef>
              <a:spcAft>
                <a:spcPts val="0"/>
              </a:spcAft>
              <a:buNone/>
            </a:pPr>
            <a:r>
              <a:rPr lang="en" sz="2400"/>
              <a:t>Click position to move the legend around.</a:t>
            </a:r>
            <a:endParaRPr sz="2400"/>
          </a:p>
          <a:p>
            <a:pPr marL="0" lvl="0" indent="0" algn="l" rtl="0">
              <a:spcBef>
                <a:spcPts val="600"/>
              </a:spcBef>
              <a:spcAft>
                <a:spcPts val="0"/>
              </a:spcAft>
              <a:buNone/>
            </a:pPr>
            <a:r>
              <a:rPr lang="en" sz="2400"/>
              <a:t>Under “Create New”, you can add text box or other things and move them around.</a:t>
            </a: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36"/>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Save session as</a:t>
            </a:r>
            <a:endParaRPr/>
          </a:p>
        </p:txBody>
      </p:sp>
      <p:sp>
        <p:nvSpPr>
          <p:cNvPr id="231" name="Google Shape;231;p36"/>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Save your work as a visit session.</a:t>
            </a:r>
            <a:endParaRPr/>
          </a:p>
          <a:p>
            <a:pPr marL="0" lvl="0" indent="0" algn="l" rtl="0">
              <a:spcBef>
                <a:spcPts val="600"/>
              </a:spcBef>
              <a:spcAft>
                <a:spcPts val="0"/>
              </a:spcAft>
              <a:buNone/>
            </a:pPr>
            <a:r>
              <a:rPr lang="en"/>
              <a:t>Restore session will reopen it.</a:t>
            </a:r>
            <a:endParaRPr/>
          </a:p>
          <a:p>
            <a:pPr marL="0" lvl="0" indent="0" algn="l" rtl="0">
              <a:spcBef>
                <a:spcPts val="600"/>
              </a:spcBef>
              <a:spcAft>
                <a:spcPts val="0"/>
              </a:spcAft>
              <a:buNone/>
            </a:pPr>
            <a:r>
              <a:rPr lang="en"/>
              <a:t>Restore session with sources allows you to select different data.</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37"/>
          <p:cNvSpPr txBox="1">
            <a:spLocks noGrp="1"/>
          </p:cNvSpPr>
          <p:nvPr>
            <p:ph type="title"/>
          </p:nvPr>
        </p:nvSpPr>
        <p:spPr>
          <a:xfrm>
            <a:off x="457200" y="205978"/>
            <a:ext cx="8229600" cy="8574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Making movies</a:t>
            </a:r>
            <a:endParaRPr/>
          </a:p>
        </p:txBody>
      </p:sp>
      <p:sp>
        <p:nvSpPr>
          <p:cNvPr id="237" name="Google Shape;237;p37"/>
          <p:cNvSpPr txBox="1">
            <a:spLocks noGrp="1"/>
          </p:cNvSpPr>
          <p:nvPr>
            <p:ph type="body" idx="1"/>
          </p:nvPr>
        </p:nvSpPr>
        <p:spPr>
          <a:xfrm>
            <a:off x="457200" y="1200150"/>
            <a:ext cx="8229600" cy="37257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None/>
            </a:pPr>
            <a:r>
              <a:rPr lang="en"/>
              <a:t>Save as mpeg is not the best option.</a:t>
            </a:r>
            <a:endParaRPr/>
          </a:p>
          <a:p>
            <a:pPr marL="0" lvl="0" indent="0" algn="l" rtl="0">
              <a:spcBef>
                <a:spcPts val="600"/>
              </a:spcBef>
              <a:spcAft>
                <a:spcPts val="0"/>
              </a:spcAft>
              <a:buNone/>
            </a:pPr>
            <a:r>
              <a:rPr lang="en"/>
              <a:t>You can save movie, “new simple movie”, then select .PNG or .jpeg and it will save a set of images.</a:t>
            </a:r>
            <a:endParaRPr/>
          </a:p>
          <a:p>
            <a:pPr marL="0" lvl="0" indent="0" algn="l" rtl="0">
              <a:spcBef>
                <a:spcPts val="600"/>
              </a:spcBef>
              <a:spcAft>
                <a:spcPts val="0"/>
              </a:spcAft>
              <a:buNone/>
            </a:pPr>
            <a:r>
              <a:rPr lang="en"/>
              <a:t>Put the set of images back together as a movie using VirtualDub (free for PC) or Quicktime Pro.</a:t>
            </a:r>
            <a:endParaRPr/>
          </a:p>
        </p:txBody>
      </p:sp>
    </p:spTree>
  </p:cSld>
  <p:clrMapOvr>
    <a:masterClrMapping/>
  </p:clrMapOvr>
</p:sld>
</file>

<file path=ppt/theme/theme1.xml><?xml version="1.0" encoding="utf-8"?>
<a:theme xmlns:a="http://schemas.openxmlformats.org/drawingml/2006/main" name="Simple Light">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1592</Words>
  <Application>Microsoft Office PowerPoint</Application>
  <PresentationFormat>On-screen Show (16:9)</PresentationFormat>
  <Paragraphs>104</Paragraphs>
  <Slides>31</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31</vt:i4>
      </vt:variant>
    </vt:vector>
  </HeadingPairs>
  <TitlesOfParts>
    <vt:vector size="34" baseType="lpstr">
      <vt:lpstr>Arial</vt:lpstr>
      <vt:lpstr>Cambria</vt:lpstr>
      <vt:lpstr>Simple Light</vt:lpstr>
      <vt:lpstr>VISIT - How to visualize IBAMR Data</vt:lpstr>
      <vt:lpstr>Download Visit, and open it.</vt:lpstr>
      <vt:lpstr>Get some sample data</vt:lpstr>
      <vt:lpstr>Set some preferences</vt:lpstr>
      <vt:lpstr>Open the boundary data</vt:lpstr>
      <vt:lpstr>Open the boundary data</vt:lpstr>
      <vt:lpstr>Plot the boundary</vt:lpstr>
      <vt:lpstr>Now you should see the boundary</vt:lpstr>
      <vt:lpstr>Open the velocity data</vt:lpstr>
      <vt:lpstr>You should see the following</vt:lpstr>
      <vt:lpstr>Plot the vorticity</vt:lpstr>
      <vt:lpstr>Draw the vorticity</vt:lpstr>
      <vt:lpstr>Customize vorticity</vt:lpstr>
      <vt:lpstr>Play the simulation</vt:lpstr>
      <vt:lpstr>Add velocity vectors</vt:lpstr>
      <vt:lpstr>Customize vectors</vt:lpstr>
      <vt:lpstr>Customize vectors</vt:lpstr>
      <vt:lpstr>Customize vectors</vt:lpstr>
      <vt:lpstr>The result</vt:lpstr>
      <vt:lpstr>Zoom</vt:lpstr>
      <vt:lpstr>Make a movie</vt:lpstr>
      <vt:lpstr>Make a movie</vt:lpstr>
      <vt:lpstr>Save the movie</vt:lpstr>
      <vt:lpstr>Suggestions to improve Visit-vorticity</vt:lpstr>
      <vt:lpstr>Velocity vectors</vt:lpstr>
      <vt:lpstr>The boundary</vt:lpstr>
      <vt:lpstr>Cleaning up the figures</vt:lpstr>
      <vt:lpstr>Axes</vt:lpstr>
      <vt:lpstr>Modify legends</vt:lpstr>
      <vt:lpstr>Save session as</vt:lpstr>
      <vt:lpstr>Making movies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VISIT - How to visualize IBAMR Data</dc:title>
  <cp:lastModifiedBy>Miller, Laura Ann</cp:lastModifiedBy>
  <cp:revision>2</cp:revision>
  <dcterms:modified xsi:type="dcterms:W3CDTF">2020-05-06T18:17:08Z</dcterms:modified>
</cp:coreProperties>
</file>